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4" r:id="rId14"/>
    <p:sldId id="268" r:id="rId15"/>
    <p:sldId id="269" r:id="rId16"/>
    <p:sldId id="270" r:id="rId17"/>
    <p:sldId id="271" r:id="rId18"/>
    <p:sldId id="275" r:id="rId19"/>
    <p:sldId id="272" r:id="rId20"/>
    <p:sldId id="273"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1616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16"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411E56-11AF-411E-91AB-EBB51FD73E23}" type="datetimeFigureOut">
              <a:rPr lang="en-IN" smtClean="0"/>
              <a:t>14-07-2022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426152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8411E56-11AF-411E-91AB-EBB51FD73E23}" type="datetimeFigureOut">
              <a:rPr lang="en-IN" smtClean="0"/>
              <a:t>14-07-2022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2264623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411E56-11AF-411E-91AB-EBB51FD73E23}" type="datetimeFigureOut">
              <a:rPr lang="en-IN" smtClean="0"/>
              <a:t>14-07-2022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4027976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411E56-11AF-411E-91AB-EBB51FD73E23}" type="datetimeFigureOut">
              <a:rPr lang="en-IN" smtClean="0"/>
              <a:t>14-07-2022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3734192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411E56-11AF-411E-91AB-EBB51FD73E23}" type="datetimeFigureOut">
              <a:rPr lang="en-IN" smtClean="0"/>
              <a:t>14-07-2022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2892123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8411E56-11AF-411E-91AB-EBB51FD73E23}" type="datetimeFigureOut">
              <a:rPr lang="en-IN" smtClean="0"/>
              <a:t>14-07-2022</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25848985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8411E56-11AF-411E-91AB-EBB51FD73E23}" type="datetimeFigureOut">
              <a:rPr lang="en-IN" smtClean="0"/>
              <a:t>14-07-2022</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834759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8411E56-11AF-411E-91AB-EBB51FD73E23}" type="datetimeFigureOut">
              <a:rPr lang="en-IN" smtClean="0"/>
              <a:t>14-07-2022</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3154786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411E56-11AF-411E-91AB-EBB51FD73E23}" type="datetimeFigureOut">
              <a:rPr lang="en-IN" smtClean="0"/>
              <a:t>14-07-2022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2222181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411E56-11AF-411E-91AB-EBB51FD73E23}" type="datetimeFigureOut">
              <a:rPr lang="en-IN" smtClean="0"/>
              <a:t>14-07-2022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1416936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8411E56-11AF-411E-91AB-EBB51FD73E23}" type="datetimeFigureOut">
              <a:rPr lang="en-IN" smtClean="0"/>
              <a:t>14-07-2022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31895416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8411E56-11AF-411E-91AB-EBB51FD73E23}" type="datetimeFigureOut">
              <a:rPr lang="en-IN" smtClean="0"/>
              <a:t>14-07-2022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8E7A68-7375-4BAE-B913-A394E9C127BB}"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8222721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411E56-11AF-411E-91AB-EBB51FD73E23}" type="datetimeFigureOut">
              <a:rPr lang="en-IN" smtClean="0"/>
              <a:t>14-07-2022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11615641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8411E56-11AF-411E-91AB-EBB51FD73E23}" type="datetimeFigureOut">
              <a:rPr lang="en-IN" smtClean="0"/>
              <a:t>14-07-2022</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4913992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8411E56-11AF-411E-91AB-EBB51FD73E23}" type="datetimeFigureOut">
              <a:rPr lang="en-IN" smtClean="0"/>
              <a:t>14-07-2022</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27019368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411E56-11AF-411E-91AB-EBB51FD73E23}" type="datetimeFigureOut">
              <a:rPr lang="en-IN" smtClean="0"/>
              <a:t>14-07-2022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30793235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411E56-11AF-411E-91AB-EBB51FD73E23}" type="datetimeFigureOut">
              <a:rPr lang="en-IN" smtClean="0"/>
              <a:t>14-07-2022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8E7A68-7375-4BAE-B913-A394E9C127BB}" type="slidenum">
              <a:rPr lang="en-IN" smtClean="0"/>
              <a:t>‹#›</a:t>
            </a:fld>
            <a:endParaRPr lang="en-IN"/>
          </a:p>
        </p:txBody>
      </p:sp>
    </p:spTree>
    <p:extLst>
      <p:ext uri="{BB962C8B-B14F-4D97-AF65-F5344CB8AC3E}">
        <p14:creationId xmlns:p14="http://schemas.microsoft.com/office/powerpoint/2010/main" val="2369979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8411E56-11AF-411E-91AB-EBB51FD73E23}" type="datetimeFigureOut">
              <a:rPr lang="en-IN" smtClean="0"/>
              <a:t>14-07-2022</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08E7A68-7375-4BAE-B913-A394E9C127BB}" type="slidenum">
              <a:rPr lang="en-IN" smtClean="0"/>
              <a:t>‹#›</a:t>
            </a:fld>
            <a:endParaRPr lang="en-IN"/>
          </a:p>
        </p:txBody>
      </p:sp>
    </p:spTree>
    <p:extLst>
      <p:ext uri="{BB962C8B-B14F-4D97-AF65-F5344CB8AC3E}">
        <p14:creationId xmlns:p14="http://schemas.microsoft.com/office/powerpoint/2010/main" val="1598961616"/>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5E9F1-80FB-5393-2AA0-BF9A46D9068B}"/>
              </a:ext>
            </a:extLst>
          </p:cNvPr>
          <p:cNvSpPr>
            <a:spLocks noGrp="1"/>
          </p:cNvSpPr>
          <p:nvPr>
            <p:ph type="ctrTitle"/>
          </p:nvPr>
        </p:nvSpPr>
        <p:spPr>
          <a:xfrm>
            <a:off x="-3067278" y="-74139"/>
            <a:ext cx="19056210" cy="2054140"/>
          </a:xfrm>
        </p:spPr>
        <p:txBody>
          <a:bodyPr/>
          <a:lstStyle/>
          <a:p>
            <a:endParaRPr lang="en-IN" dirty="0"/>
          </a:p>
        </p:txBody>
      </p:sp>
      <p:sp>
        <p:nvSpPr>
          <p:cNvPr id="3" name="Subtitle 2">
            <a:extLst>
              <a:ext uri="{FF2B5EF4-FFF2-40B4-BE49-F238E27FC236}">
                <a16:creationId xmlns:a16="http://schemas.microsoft.com/office/drawing/2014/main" id="{C2153F8B-CB1E-77EA-A7A8-FFA20446CF10}"/>
              </a:ext>
            </a:extLst>
          </p:cNvPr>
          <p:cNvSpPr>
            <a:spLocks noGrp="1"/>
          </p:cNvSpPr>
          <p:nvPr>
            <p:ph type="subTitle" idx="1"/>
          </p:nvPr>
        </p:nvSpPr>
        <p:spPr>
          <a:xfrm>
            <a:off x="1524000" y="5418305"/>
            <a:ext cx="9144000" cy="1643975"/>
          </a:xfrm>
        </p:spPr>
        <p:txBody>
          <a:bodyPr>
            <a:noAutofit/>
          </a:bodyPr>
          <a:lstStyle/>
          <a:p>
            <a:pPr algn="ctr"/>
            <a:r>
              <a:rPr lang="en-IN" sz="2800" b="1" i="1" u="sng" dirty="0">
                <a:solidFill>
                  <a:srgbClr val="0070C0"/>
                </a:solidFill>
                <a:highlight>
                  <a:srgbClr val="FFFF00"/>
                </a:highlight>
                <a:latin typeface="Algerian" panose="04020705040A02060702" pitchFamily="82" charset="0"/>
              </a:rPr>
              <a:t>Old car price Prediction Project</a:t>
            </a:r>
          </a:p>
          <a:p>
            <a:pPr algn="ctr"/>
            <a:r>
              <a:rPr lang="en-IN" sz="2800" b="1" i="1" dirty="0">
                <a:solidFill>
                  <a:srgbClr val="0070C0"/>
                </a:solidFill>
                <a:highlight>
                  <a:srgbClr val="FFFF00"/>
                </a:highlight>
              </a:rPr>
              <a:t>By</a:t>
            </a:r>
          </a:p>
          <a:p>
            <a:pPr algn="ctr"/>
            <a:r>
              <a:rPr lang="en-IN" sz="2800" b="1" i="1" dirty="0">
                <a:solidFill>
                  <a:srgbClr val="0070C0"/>
                </a:solidFill>
                <a:highlight>
                  <a:srgbClr val="FFFF00"/>
                </a:highlight>
                <a:latin typeface="Arial Black" panose="020B0A04020102020204" pitchFamily="34" charset="0"/>
              </a:rPr>
              <a:t>KOUSHIK BISWAS</a:t>
            </a:r>
          </a:p>
        </p:txBody>
      </p:sp>
      <p:pic>
        <p:nvPicPr>
          <p:cNvPr id="4" name="Picture 2" descr="See the source image">
            <a:extLst>
              <a:ext uri="{FF2B5EF4-FFF2-40B4-BE49-F238E27FC236}">
                <a16:creationId xmlns:a16="http://schemas.microsoft.com/office/drawing/2014/main" id="{164DFADE-2BDE-4D89-5A49-71CBE81E38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4183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1767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E4868-8295-B74C-CC29-D63815D1F4E3}"/>
              </a:ext>
            </a:extLst>
          </p:cNvPr>
          <p:cNvSpPr>
            <a:spLocks noGrp="1"/>
          </p:cNvSpPr>
          <p:nvPr>
            <p:ph type="title"/>
          </p:nvPr>
        </p:nvSpPr>
        <p:spPr>
          <a:xfrm>
            <a:off x="838200" y="0"/>
            <a:ext cx="10515600" cy="867747"/>
          </a:xfrm>
        </p:spPr>
        <p:txBody>
          <a:bodyPr>
            <a:normAutofit/>
          </a:bodyPr>
          <a:lstStyle/>
          <a:p>
            <a:pPr algn="ctr"/>
            <a:r>
              <a:rPr lang="en-IN" sz="4800" b="1" i="1" u="sng" dirty="0">
                <a:ln w="6731" cap="flat" cmpd="sng" algn="ctr">
                  <a:solidFill>
                    <a:srgbClr val="FFFFFF"/>
                  </a:solidFill>
                  <a:prstDash val="solid"/>
                  <a:round/>
                </a:ln>
                <a:solidFill>
                  <a:srgbClr val="262626"/>
                </a:solidFill>
                <a:effectLst>
                  <a:outerShdw dist="38100" dir="2700000" algn="bl">
                    <a:schemeClr val="accent5"/>
                  </a:outerShdw>
                </a:effectLst>
                <a:highlight>
                  <a:srgbClr val="FFFF00"/>
                </a:highlight>
                <a:latin typeface="Segoe UI" panose="020B0502040204020203" pitchFamily="34" charset="0"/>
                <a:ea typeface="Calibri" panose="020F0502020204030204" pitchFamily="34" charset="0"/>
              </a:rPr>
              <a:t>TABLE OF CONTENTS</a:t>
            </a:r>
            <a:endParaRPr lang="en-IN" sz="4800" dirty="0">
              <a:highlight>
                <a:srgbClr val="FFFF00"/>
              </a:highlight>
            </a:endParaRPr>
          </a:p>
        </p:txBody>
      </p:sp>
      <p:sp>
        <p:nvSpPr>
          <p:cNvPr id="3" name="Content Placeholder 2">
            <a:extLst>
              <a:ext uri="{FF2B5EF4-FFF2-40B4-BE49-F238E27FC236}">
                <a16:creationId xmlns:a16="http://schemas.microsoft.com/office/drawing/2014/main" id="{DA0E21D6-6A5A-B1B1-4B8D-C274CABCA35A}"/>
              </a:ext>
            </a:extLst>
          </p:cNvPr>
          <p:cNvSpPr>
            <a:spLocks noGrp="1"/>
          </p:cNvSpPr>
          <p:nvPr>
            <p:ph idx="1"/>
          </p:nvPr>
        </p:nvSpPr>
        <p:spPr>
          <a:xfrm>
            <a:off x="838200" y="799257"/>
            <a:ext cx="10515600" cy="6058743"/>
          </a:xfrm>
        </p:spPr>
        <p:txBody>
          <a:bodyPr>
            <a:normAutofit fontScale="92500" lnSpcReduction="10000"/>
          </a:bodyPr>
          <a:lstStyle/>
          <a:p>
            <a:pPr>
              <a:buFont typeface="Wingdings" panose="05000000000000000000" pitchFamily="2" charset="2"/>
              <a:buChar char="v"/>
            </a:pPr>
            <a:r>
              <a:rPr lang="en-IN" sz="2000" dirty="0" err="1">
                <a:latin typeface="Algerian" panose="04020705040A02060702" pitchFamily="82" charset="0"/>
              </a:rPr>
              <a:t>Abstruct</a:t>
            </a:r>
            <a:endParaRPr lang="en-IN" sz="2000" dirty="0">
              <a:latin typeface="Algerian" panose="04020705040A02060702" pitchFamily="82" charset="0"/>
            </a:endParaRPr>
          </a:p>
          <a:p>
            <a:pPr>
              <a:buFont typeface="Wingdings" panose="05000000000000000000" pitchFamily="2" charset="2"/>
              <a:buChar char="v"/>
            </a:pPr>
            <a:r>
              <a:rPr lang="en-IN" sz="2000" dirty="0">
                <a:latin typeface="Algerian" panose="04020705040A02060702" pitchFamily="82" charset="0"/>
              </a:rPr>
              <a:t>Introduction</a:t>
            </a:r>
          </a:p>
          <a:p>
            <a:pPr>
              <a:buFont typeface="Wingdings" panose="05000000000000000000" pitchFamily="2" charset="2"/>
              <a:buChar char="v"/>
            </a:pPr>
            <a:r>
              <a:rPr lang="en-IN" sz="2000" dirty="0">
                <a:latin typeface="Algerian" panose="04020705040A02060702" pitchFamily="82" charset="0"/>
              </a:rPr>
              <a:t>Problem Statement</a:t>
            </a:r>
          </a:p>
          <a:p>
            <a:pPr>
              <a:buFont typeface="Wingdings" panose="05000000000000000000" pitchFamily="2" charset="2"/>
              <a:buChar char="v"/>
            </a:pPr>
            <a:r>
              <a:rPr lang="en-IN" sz="2000" dirty="0">
                <a:effectLst/>
                <a:latin typeface="Algerian" panose="04020705040A02060702" pitchFamily="82" charset="0"/>
                <a:ea typeface="Calibri" panose="020F0502020204030204" pitchFamily="34" charset="0"/>
                <a:cs typeface="Times New Roman" panose="02020603050405020304" pitchFamily="18" charset="0"/>
              </a:rPr>
              <a:t>Conceptual Background of the Domain Problem</a:t>
            </a:r>
          </a:p>
          <a:p>
            <a:pPr>
              <a:buFont typeface="Wingdings" panose="05000000000000000000" pitchFamily="2" charset="2"/>
              <a:buChar char="v"/>
            </a:pPr>
            <a:r>
              <a:rPr lang="en-US" sz="2000" dirty="0">
                <a:latin typeface="Algerian" panose="04020705040A02060702" pitchFamily="82" charset="0"/>
              </a:rPr>
              <a:t>Data Sources and their formats</a:t>
            </a:r>
          </a:p>
          <a:p>
            <a:pPr>
              <a:buFont typeface="Wingdings" panose="05000000000000000000" pitchFamily="2" charset="2"/>
              <a:buChar char="v"/>
            </a:pPr>
            <a:r>
              <a:rPr lang="en-IN" sz="2000" dirty="0">
                <a:latin typeface="Algerian" panose="04020705040A02060702" pitchFamily="82" charset="0"/>
              </a:rPr>
              <a:t>About The </a:t>
            </a:r>
            <a:r>
              <a:rPr lang="en-IN" sz="2000" dirty="0" err="1">
                <a:latin typeface="Algerian" panose="04020705040A02060702" pitchFamily="82" charset="0"/>
              </a:rPr>
              <a:t>DataSet</a:t>
            </a:r>
            <a:endParaRPr lang="en-IN" sz="2000" dirty="0">
              <a:latin typeface="Algerian" panose="04020705040A02060702" pitchFamily="82" charset="0"/>
            </a:endParaRPr>
          </a:p>
          <a:p>
            <a:pPr>
              <a:buFont typeface="Wingdings" panose="05000000000000000000" pitchFamily="2" charset="2"/>
              <a:buChar char="v"/>
            </a:pPr>
            <a:r>
              <a:rPr lang="en-IN" sz="2000" dirty="0">
                <a:latin typeface="Algerian" panose="04020705040A02060702" pitchFamily="82" charset="0"/>
              </a:rPr>
              <a:t>Data </a:t>
            </a:r>
            <a:r>
              <a:rPr lang="en-IN" sz="2000" dirty="0" err="1">
                <a:latin typeface="Algerian" panose="04020705040A02060702" pitchFamily="82" charset="0"/>
              </a:rPr>
              <a:t>Preprocessing</a:t>
            </a:r>
            <a:endParaRPr lang="en-IN" sz="2000" dirty="0">
              <a:latin typeface="Algerian" panose="04020705040A02060702" pitchFamily="82" charset="0"/>
            </a:endParaRPr>
          </a:p>
          <a:p>
            <a:pPr>
              <a:buFont typeface="Wingdings" panose="05000000000000000000" pitchFamily="2" charset="2"/>
              <a:buChar char="v"/>
            </a:pPr>
            <a:r>
              <a:rPr lang="en-US" sz="2000" dirty="0">
                <a:latin typeface="Algerian" panose="04020705040A02060702" pitchFamily="82" charset="0"/>
              </a:rPr>
              <a:t>Hardware and Software Requirements and Tools Used</a:t>
            </a:r>
          </a:p>
          <a:p>
            <a:pPr>
              <a:buFont typeface="Wingdings" panose="05000000000000000000" pitchFamily="2" charset="2"/>
              <a:buChar char="v"/>
            </a:pPr>
            <a:r>
              <a:rPr lang="en-IN" sz="2000" dirty="0">
                <a:latin typeface="Algerian" panose="04020705040A02060702" pitchFamily="82" charset="0"/>
              </a:rPr>
              <a:t>selected models</a:t>
            </a:r>
          </a:p>
          <a:p>
            <a:pPr>
              <a:buFont typeface="Wingdings" panose="05000000000000000000" pitchFamily="2" charset="2"/>
              <a:buChar char="v"/>
            </a:pPr>
            <a:r>
              <a:rPr lang="en-IN" sz="2000" dirty="0">
                <a:latin typeface="Algerian" panose="04020705040A02060702" pitchFamily="82" charset="0"/>
              </a:rPr>
              <a:t>Accuracy score of the model</a:t>
            </a:r>
          </a:p>
          <a:p>
            <a:pPr>
              <a:buFont typeface="Wingdings" panose="05000000000000000000" pitchFamily="2" charset="2"/>
              <a:buChar char="v"/>
            </a:pPr>
            <a:r>
              <a:rPr lang="en-IN" sz="2000" dirty="0">
                <a:latin typeface="Algerian" panose="04020705040A02060702" pitchFamily="82" charset="0"/>
              </a:rPr>
              <a:t>Parameter tuning</a:t>
            </a:r>
          </a:p>
          <a:p>
            <a:pPr>
              <a:buFont typeface="Wingdings" panose="05000000000000000000" pitchFamily="2" charset="2"/>
              <a:buChar char="v"/>
            </a:pPr>
            <a:r>
              <a:rPr lang="en-IN" sz="2000" dirty="0">
                <a:latin typeface="Algerian" panose="04020705040A02060702" pitchFamily="82" charset="0"/>
              </a:rPr>
              <a:t>Final model</a:t>
            </a:r>
          </a:p>
          <a:p>
            <a:pPr>
              <a:buFont typeface="Wingdings" panose="05000000000000000000" pitchFamily="2" charset="2"/>
              <a:buChar char="v"/>
            </a:pPr>
            <a:r>
              <a:rPr lang="en-IN" sz="2000" dirty="0">
                <a:latin typeface="Algerian" panose="04020705040A02060702" pitchFamily="82" charset="0"/>
              </a:rPr>
              <a:t>Visualizations</a:t>
            </a:r>
          </a:p>
          <a:p>
            <a:pPr>
              <a:buFont typeface="Wingdings" panose="05000000000000000000" pitchFamily="2" charset="2"/>
              <a:buChar char="v"/>
            </a:pPr>
            <a:r>
              <a:rPr lang="en-IN" sz="2000" dirty="0">
                <a:latin typeface="Algerian" panose="04020705040A02060702" pitchFamily="82" charset="0"/>
              </a:rPr>
              <a:t>Interpretation of the Results</a:t>
            </a:r>
          </a:p>
          <a:p>
            <a:pPr>
              <a:buFont typeface="Wingdings" panose="05000000000000000000" pitchFamily="2" charset="2"/>
              <a:buChar char="v"/>
            </a:pPr>
            <a:r>
              <a:rPr lang="en-IN" sz="2000" dirty="0" err="1">
                <a:latin typeface="Algerian" panose="04020705040A02060702" pitchFamily="82" charset="0"/>
              </a:rPr>
              <a:t>Conclussion</a:t>
            </a:r>
            <a:endParaRPr lang="en-IN" sz="2000" dirty="0">
              <a:latin typeface="Algerian" panose="04020705040A02060702" pitchFamily="82" charset="0"/>
            </a:endParaRPr>
          </a:p>
          <a:p>
            <a:pPr>
              <a:buFont typeface="Wingdings" panose="05000000000000000000" pitchFamily="2" charset="2"/>
              <a:buChar char="v"/>
            </a:pPr>
            <a:endParaRPr lang="en-IN" sz="1400" dirty="0"/>
          </a:p>
        </p:txBody>
      </p:sp>
    </p:spTree>
    <p:extLst>
      <p:ext uri="{BB962C8B-B14F-4D97-AF65-F5344CB8AC3E}">
        <p14:creationId xmlns:p14="http://schemas.microsoft.com/office/powerpoint/2010/main" val="993161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46884-E14D-84A3-441D-778F25DEE18C}"/>
              </a:ext>
            </a:extLst>
          </p:cNvPr>
          <p:cNvSpPr>
            <a:spLocks noGrp="1"/>
          </p:cNvSpPr>
          <p:nvPr>
            <p:ph type="title"/>
          </p:nvPr>
        </p:nvSpPr>
        <p:spPr>
          <a:xfrm>
            <a:off x="646111" y="452718"/>
            <a:ext cx="9404723" cy="834906"/>
          </a:xfrm>
        </p:spPr>
        <p:txBody>
          <a:bodyPr/>
          <a:lstStyle/>
          <a:p>
            <a:pPr algn="ctr"/>
            <a:r>
              <a:rPr lang="en-IN" sz="4400" dirty="0" err="1">
                <a:solidFill>
                  <a:srgbClr val="FFFF00"/>
                </a:solidFill>
                <a:highlight>
                  <a:srgbClr val="800000"/>
                </a:highlight>
                <a:latin typeface="Algerian" panose="04020705040A02060702" pitchFamily="82" charset="0"/>
              </a:rPr>
              <a:t>Abstruct</a:t>
            </a:r>
            <a:endParaRPr lang="en-IN" dirty="0">
              <a:solidFill>
                <a:srgbClr val="FFFF00"/>
              </a:solidFill>
              <a:highlight>
                <a:srgbClr val="800000"/>
              </a:highlight>
            </a:endParaRPr>
          </a:p>
        </p:txBody>
      </p:sp>
      <p:sp>
        <p:nvSpPr>
          <p:cNvPr id="3" name="Content Placeholder 2">
            <a:extLst>
              <a:ext uri="{FF2B5EF4-FFF2-40B4-BE49-F238E27FC236}">
                <a16:creationId xmlns:a16="http://schemas.microsoft.com/office/drawing/2014/main" id="{EB33E376-FC15-AEDC-587A-67F8BE5FA9EA}"/>
              </a:ext>
            </a:extLst>
          </p:cNvPr>
          <p:cNvSpPr>
            <a:spLocks noGrp="1"/>
          </p:cNvSpPr>
          <p:nvPr>
            <p:ph idx="1"/>
          </p:nvPr>
        </p:nvSpPr>
        <p:spPr>
          <a:xfrm>
            <a:off x="1467205" y="1633041"/>
            <a:ext cx="8946541" cy="4195481"/>
          </a:xfrm>
        </p:spPr>
        <p:txBody>
          <a:bodyPr/>
          <a:lstStyle/>
          <a:p>
            <a:pPr algn="just"/>
            <a:r>
              <a:rPr lang="en-IN" spc="-5" dirty="0">
                <a:solidFill>
                  <a:srgbClr val="7030A0"/>
                </a:solidFill>
                <a:effectLst/>
                <a:latin typeface="Arial" panose="020B0604020202020204" pitchFamily="34" charset="0"/>
                <a:ea typeface="Calibri" panose="020F0502020204030204" pitchFamily="34" charset="0"/>
                <a:cs typeface="Times New Roman" panose="02020603050405020304" pitchFamily="18" charset="0"/>
              </a:rPr>
              <a:t>.</a:t>
            </a:r>
            <a:r>
              <a:rPr lang="en-US" b="0" i="0" dirty="0">
                <a:solidFill>
                  <a:srgbClr val="333333"/>
                </a:solidFill>
                <a:effectLst/>
                <a:latin typeface="Roboto" panose="02000000000000000000" pitchFamily="2" charset="0"/>
              </a:rPr>
              <a:t> </a:t>
            </a:r>
            <a:r>
              <a:rPr lang="en-US" b="0" i="0" dirty="0">
                <a:solidFill>
                  <a:srgbClr val="FFFF00"/>
                </a:solidFill>
                <a:effectLst/>
                <a:latin typeface="Roboto" panose="02000000000000000000" pitchFamily="2" charset="0"/>
              </a:rPr>
              <a:t>A car price prediction has been a high-interest research area, as it requires noticeable effort and knowledge of the field expert. Considerable number of distinct attributes are examined for the reliable and accurate predictions. To build a model for predicting the price of used cars, we applied many machine learning techniques (Linear Regression, Support Vector Machine ,</a:t>
            </a:r>
            <a:r>
              <a:rPr lang="en-US" b="0" i="0" dirty="0" err="1">
                <a:solidFill>
                  <a:srgbClr val="FFFF00"/>
                </a:solidFill>
                <a:effectLst/>
                <a:latin typeface="Roboto" panose="02000000000000000000" pitchFamily="2" charset="0"/>
              </a:rPr>
              <a:t>DTC,Random</a:t>
            </a:r>
            <a:r>
              <a:rPr lang="en-US" b="0" i="0" dirty="0">
                <a:solidFill>
                  <a:srgbClr val="FFFF00"/>
                </a:solidFill>
                <a:effectLst/>
                <a:latin typeface="Roboto" panose="02000000000000000000" pitchFamily="2" charset="0"/>
              </a:rPr>
              <a:t> </a:t>
            </a:r>
            <a:r>
              <a:rPr lang="en-US" b="0" i="0" dirty="0" err="1">
                <a:solidFill>
                  <a:srgbClr val="FFFF00"/>
                </a:solidFill>
                <a:effectLst/>
                <a:latin typeface="Roboto" panose="02000000000000000000" pitchFamily="2" charset="0"/>
              </a:rPr>
              <a:t>Forest,etc</a:t>
            </a:r>
            <a:r>
              <a:rPr lang="en-US" b="0" i="0" dirty="0">
                <a:solidFill>
                  <a:srgbClr val="FFFF00"/>
                </a:solidFill>
                <a:effectLst/>
                <a:latin typeface="Roboto" panose="02000000000000000000" pitchFamily="2" charset="0"/>
              </a:rPr>
              <a:t>).  The data used for the prediction was collected from the web portal www.olx.in using web scraper that was written in python programming language. Respective performances of different algorithms were then compared to find one that best suits the available data set. The final prediction model was integrated into Java application. Furthermore, the model was evaluated using test data and the accuracy of 87.38% was obtained</a:t>
            </a:r>
            <a:r>
              <a:rPr lang="en-US" sz="1800" b="0" i="0" dirty="0">
                <a:solidFill>
                  <a:srgbClr val="333333"/>
                </a:solidFill>
                <a:effectLst/>
                <a:latin typeface="Roboto" panose="02000000000000000000" pitchFamily="2"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86720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BADAA-2A5C-15FD-CE8B-6911769954DC}"/>
              </a:ext>
            </a:extLst>
          </p:cNvPr>
          <p:cNvSpPr>
            <a:spLocks noGrp="1"/>
          </p:cNvSpPr>
          <p:nvPr>
            <p:ph type="title"/>
          </p:nvPr>
        </p:nvSpPr>
        <p:spPr/>
        <p:txBody>
          <a:bodyPr/>
          <a:lstStyle/>
          <a:p>
            <a:pPr algn="ctr"/>
            <a:r>
              <a:rPr lang="en-IN" sz="4400" dirty="0">
                <a:solidFill>
                  <a:srgbClr val="FFFF00"/>
                </a:solidFill>
                <a:highlight>
                  <a:srgbClr val="800080"/>
                </a:highlight>
                <a:latin typeface="Algerian" panose="04020705040A02060702" pitchFamily="82" charset="0"/>
              </a:rPr>
              <a:t>Introduction</a:t>
            </a:r>
            <a:endParaRPr lang="en-IN" dirty="0">
              <a:solidFill>
                <a:srgbClr val="FFFF00"/>
              </a:solidFill>
              <a:highlight>
                <a:srgbClr val="800080"/>
              </a:highlight>
            </a:endParaRPr>
          </a:p>
        </p:txBody>
      </p:sp>
      <p:sp>
        <p:nvSpPr>
          <p:cNvPr id="3" name="Content Placeholder 2">
            <a:extLst>
              <a:ext uri="{FF2B5EF4-FFF2-40B4-BE49-F238E27FC236}">
                <a16:creationId xmlns:a16="http://schemas.microsoft.com/office/drawing/2014/main" id="{F77C46EB-0CF9-105D-F354-B1AE96416813}"/>
              </a:ext>
            </a:extLst>
          </p:cNvPr>
          <p:cNvSpPr>
            <a:spLocks noGrp="1"/>
          </p:cNvSpPr>
          <p:nvPr>
            <p:ph idx="1"/>
          </p:nvPr>
        </p:nvSpPr>
        <p:spPr/>
        <p:txBody>
          <a:bodyPr>
            <a:normAutofit/>
          </a:bodyPr>
          <a:lstStyle/>
          <a:p>
            <a:pPr algn="just"/>
            <a:r>
              <a:rPr lang="en-US" sz="2400" dirty="0">
                <a:solidFill>
                  <a:srgbClr val="FFFF00"/>
                </a:solidFill>
              </a:rPr>
              <a:t>Thousands of cars are sold everyday. There are some questions every buyer asks himself like: What is the actual price that this car deserves? Am I paying a fair price? </a:t>
            </a:r>
          </a:p>
          <a:p>
            <a:pPr algn="just"/>
            <a:r>
              <a:rPr lang="en-US" sz="2400" dirty="0">
                <a:solidFill>
                  <a:srgbClr val="FFFF00"/>
                </a:solidFill>
              </a:rPr>
              <a:t>In this paper, a machine learning model is proposed to predict a car price based on data related to the car (its brand, the year it was built in, </a:t>
            </a:r>
            <a:r>
              <a:rPr lang="en-US" sz="2400" dirty="0" err="1">
                <a:solidFill>
                  <a:srgbClr val="FFFF00"/>
                </a:solidFill>
              </a:rPr>
              <a:t>owner,fuel</a:t>
            </a:r>
            <a:r>
              <a:rPr lang="en-US" sz="2400" dirty="0">
                <a:solidFill>
                  <a:srgbClr val="FFFF00"/>
                </a:solidFill>
              </a:rPr>
              <a:t> </a:t>
            </a:r>
            <a:r>
              <a:rPr lang="en-US" sz="2400" dirty="0" err="1">
                <a:solidFill>
                  <a:srgbClr val="FFFF00"/>
                </a:solidFill>
              </a:rPr>
              <a:t>type,etc</a:t>
            </a:r>
            <a:r>
              <a:rPr lang="en-US" sz="2400" dirty="0">
                <a:solidFill>
                  <a:srgbClr val="FFFF00"/>
                </a:solidFill>
              </a:rPr>
              <a:t>.). This will facilitate the reproducibility of our work. In this study, Python programming language with a number of Python packages will be used.</a:t>
            </a:r>
            <a:endParaRPr lang="en-IN" sz="2400" dirty="0">
              <a:solidFill>
                <a:srgbClr val="FFFF00"/>
              </a:solidFill>
            </a:endParaRPr>
          </a:p>
        </p:txBody>
      </p:sp>
    </p:spTree>
    <p:extLst>
      <p:ext uri="{BB962C8B-B14F-4D97-AF65-F5344CB8AC3E}">
        <p14:creationId xmlns:p14="http://schemas.microsoft.com/office/powerpoint/2010/main" val="326522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6AABD-9762-B06D-7F65-12B00858E430}"/>
              </a:ext>
            </a:extLst>
          </p:cNvPr>
          <p:cNvSpPr>
            <a:spLocks noGrp="1"/>
          </p:cNvSpPr>
          <p:nvPr>
            <p:ph type="title"/>
          </p:nvPr>
        </p:nvSpPr>
        <p:spPr/>
        <p:txBody>
          <a:bodyPr/>
          <a:lstStyle/>
          <a:p>
            <a:pPr algn="ctr"/>
            <a:r>
              <a:rPr lang="en-IN" sz="4400" dirty="0">
                <a:solidFill>
                  <a:srgbClr val="FFFF00"/>
                </a:solidFill>
                <a:highlight>
                  <a:srgbClr val="800080"/>
                </a:highlight>
                <a:latin typeface="Algerian" panose="04020705040A02060702" pitchFamily="82" charset="0"/>
              </a:rPr>
              <a:t>Problem Statement</a:t>
            </a:r>
            <a:endParaRPr lang="en-IN" dirty="0">
              <a:solidFill>
                <a:srgbClr val="FFFF00"/>
              </a:solidFill>
              <a:highlight>
                <a:srgbClr val="800080"/>
              </a:highlight>
            </a:endParaRPr>
          </a:p>
        </p:txBody>
      </p:sp>
      <p:sp>
        <p:nvSpPr>
          <p:cNvPr id="3" name="Content Placeholder 2">
            <a:extLst>
              <a:ext uri="{FF2B5EF4-FFF2-40B4-BE49-F238E27FC236}">
                <a16:creationId xmlns:a16="http://schemas.microsoft.com/office/drawing/2014/main" id="{CACDF237-C85A-8154-11D0-AA3D5D057240}"/>
              </a:ext>
            </a:extLst>
          </p:cNvPr>
          <p:cNvSpPr>
            <a:spLocks noGrp="1"/>
          </p:cNvSpPr>
          <p:nvPr>
            <p:ph idx="1"/>
          </p:nvPr>
        </p:nvSpPr>
        <p:spPr>
          <a:xfrm>
            <a:off x="646112" y="1418253"/>
            <a:ext cx="10037440" cy="5187819"/>
          </a:xfrm>
        </p:spPr>
        <p:txBody>
          <a:bodyPr>
            <a:normAutofit fontScale="92500" lnSpcReduction="10000"/>
          </a:bodyPr>
          <a:lstStyle/>
          <a:p>
            <a:pPr algn="just"/>
            <a:r>
              <a:rPr lang="en-US" dirty="0">
                <a:solidFill>
                  <a:srgbClr val="FFFF00"/>
                </a:solidFill>
              </a:rPr>
              <a:t>A car is not only a symbol of social status but also a valuable asset. In 2018-19, while new </a:t>
            </a:r>
            <a:r>
              <a:rPr lang="en-US" dirty="0" err="1">
                <a:solidFill>
                  <a:srgbClr val="FFFF00"/>
                </a:solidFill>
              </a:rPr>
              <a:t>carsales</a:t>
            </a:r>
            <a:r>
              <a:rPr lang="en-US" dirty="0">
                <a:solidFill>
                  <a:srgbClr val="FFFF00"/>
                </a:solidFill>
              </a:rPr>
              <a:t> were recorded at 3.6 million units, 4 million second-hand cars were bought and </a:t>
            </a:r>
            <a:r>
              <a:rPr lang="en-US" dirty="0" err="1">
                <a:solidFill>
                  <a:srgbClr val="FFFF00"/>
                </a:solidFill>
              </a:rPr>
              <a:t>sold,according</a:t>
            </a:r>
            <a:r>
              <a:rPr lang="en-US" dirty="0">
                <a:solidFill>
                  <a:srgbClr val="FFFF00"/>
                </a:solidFill>
              </a:rPr>
              <a:t> to a recent report on India's pre-owned car market by </a:t>
            </a:r>
            <a:r>
              <a:rPr lang="en-US" dirty="0" err="1">
                <a:solidFill>
                  <a:srgbClr val="FFFF00"/>
                </a:solidFill>
              </a:rPr>
              <a:t>IndianBlueBook</a:t>
            </a:r>
            <a:r>
              <a:rPr lang="en-US" dirty="0">
                <a:solidFill>
                  <a:srgbClr val="FFFF00"/>
                </a:solidFill>
              </a:rPr>
              <a:t>, a used </a:t>
            </a:r>
            <a:r>
              <a:rPr lang="en-US" dirty="0" err="1">
                <a:solidFill>
                  <a:srgbClr val="FFFF00"/>
                </a:solidFill>
              </a:rPr>
              <a:t>carpricing</a:t>
            </a:r>
            <a:r>
              <a:rPr lang="en-US" dirty="0">
                <a:solidFill>
                  <a:srgbClr val="FFFF00"/>
                </a:solidFill>
              </a:rPr>
              <a:t> guide by Mahindra First Choice </a:t>
            </a:r>
            <a:r>
              <a:rPr lang="en-US" dirty="0" err="1">
                <a:solidFill>
                  <a:srgbClr val="FFFF00"/>
                </a:solidFill>
              </a:rPr>
              <a:t>Wheels.The</a:t>
            </a:r>
            <a:r>
              <a:rPr lang="en-US" dirty="0">
                <a:solidFill>
                  <a:srgbClr val="FFFF00"/>
                </a:solidFill>
              </a:rPr>
              <a:t> growth rate of new car sales has slowed owing to a variety of reasons, including </a:t>
            </a:r>
            <a:r>
              <a:rPr lang="en-US" dirty="0" err="1">
                <a:solidFill>
                  <a:srgbClr val="FFFF00"/>
                </a:solidFill>
              </a:rPr>
              <a:t>cyclicalslowdown</a:t>
            </a:r>
            <a:r>
              <a:rPr lang="en-US" dirty="0">
                <a:solidFill>
                  <a:srgbClr val="FFFF00"/>
                </a:solidFill>
              </a:rPr>
              <a:t> in auto sales in election years and an overall consumption slowdown in </a:t>
            </a:r>
            <a:r>
              <a:rPr lang="en-US" dirty="0" err="1">
                <a:solidFill>
                  <a:srgbClr val="FFFF00"/>
                </a:solidFill>
              </a:rPr>
              <a:t>theeconomy</a:t>
            </a:r>
            <a:r>
              <a:rPr lang="en-US" dirty="0">
                <a:solidFill>
                  <a:srgbClr val="FFFF00"/>
                </a:solidFill>
              </a:rPr>
              <a:t>. New car sales grew 2.70% in 2018-19, the slowest growth rate for the industry in </a:t>
            </a:r>
            <a:r>
              <a:rPr lang="en-US" dirty="0" err="1">
                <a:solidFill>
                  <a:srgbClr val="FFFF00"/>
                </a:solidFill>
              </a:rPr>
              <a:t>fouryears</a:t>
            </a:r>
            <a:r>
              <a:rPr lang="en-US" dirty="0">
                <a:solidFill>
                  <a:srgbClr val="FFFF00"/>
                </a:solidFill>
              </a:rPr>
              <a:t>. In April, passenger vehicle sales saw a sharp decline compared with the same month </a:t>
            </a:r>
            <a:r>
              <a:rPr lang="en-US" dirty="0" err="1">
                <a:solidFill>
                  <a:srgbClr val="FFFF00"/>
                </a:solidFill>
              </a:rPr>
              <a:t>lastyear</a:t>
            </a:r>
            <a:r>
              <a:rPr lang="en-US" dirty="0">
                <a:solidFill>
                  <a:srgbClr val="FFFF00"/>
                </a:solidFill>
              </a:rPr>
              <a:t>, and domestic sales saw a contraction of 17.07%.People buy used cars for various reasons like to learn how to drive, to have a business car, </a:t>
            </a:r>
            <a:r>
              <a:rPr lang="en-US" dirty="0" err="1">
                <a:solidFill>
                  <a:srgbClr val="FFFF00"/>
                </a:solidFill>
              </a:rPr>
              <a:t>tohave</a:t>
            </a:r>
            <a:r>
              <a:rPr lang="en-US" dirty="0">
                <a:solidFill>
                  <a:srgbClr val="FFFF00"/>
                </a:solidFill>
              </a:rPr>
              <a:t> a </a:t>
            </a:r>
            <a:r>
              <a:rPr lang="en-US" dirty="0" err="1">
                <a:solidFill>
                  <a:srgbClr val="FFFF00"/>
                </a:solidFill>
              </a:rPr>
              <a:t>seperate</a:t>
            </a:r>
            <a:r>
              <a:rPr lang="en-US" dirty="0">
                <a:solidFill>
                  <a:srgbClr val="FFFF00"/>
                </a:solidFill>
              </a:rPr>
              <a:t> car for work, financial crunch, selling the old car to get a new one and </a:t>
            </a:r>
            <a:r>
              <a:rPr lang="en-US" dirty="0" err="1">
                <a:solidFill>
                  <a:srgbClr val="FFFF00"/>
                </a:solidFill>
              </a:rPr>
              <a:t>thereasons</a:t>
            </a:r>
            <a:r>
              <a:rPr lang="en-US" dirty="0">
                <a:solidFill>
                  <a:srgbClr val="FFFF00"/>
                </a:solidFill>
              </a:rPr>
              <a:t> can be </a:t>
            </a:r>
            <a:r>
              <a:rPr lang="en-US" dirty="0" err="1">
                <a:solidFill>
                  <a:srgbClr val="FFFF00"/>
                </a:solidFill>
              </a:rPr>
              <a:t>endless.The</a:t>
            </a:r>
            <a:r>
              <a:rPr lang="en-US" dirty="0">
                <a:solidFill>
                  <a:srgbClr val="FFFF00"/>
                </a:solidFill>
              </a:rPr>
              <a:t> value of a car depreciates significantly in the first year itself, up to 50% for some </a:t>
            </a:r>
            <a:r>
              <a:rPr lang="en-US" dirty="0" err="1">
                <a:solidFill>
                  <a:srgbClr val="FFFF00"/>
                </a:solidFill>
              </a:rPr>
              <a:t>models.From</a:t>
            </a:r>
            <a:r>
              <a:rPr lang="en-US" dirty="0">
                <a:solidFill>
                  <a:srgbClr val="FFFF00"/>
                </a:solidFill>
              </a:rPr>
              <a:t> a buyer's perspective, the aspiration of owning a car is getting fulfilled at a lower </a:t>
            </a:r>
            <a:r>
              <a:rPr lang="en-US" dirty="0" err="1">
                <a:solidFill>
                  <a:srgbClr val="FFFF00"/>
                </a:solidFill>
              </a:rPr>
              <a:t>pricepoint</a:t>
            </a:r>
            <a:r>
              <a:rPr lang="en-US" dirty="0">
                <a:solidFill>
                  <a:srgbClr val="FFFF00"/>
                </a:solidFill>
              </a:rPr>
              <a:t>. According to the </a:t>
            </a:r>
            <a:r>
              <a:rPr lang="en-US" dirty="0" err="1">
                <a:solidFill>
                  <a:srgbClr val="FFFF00"/>
                </a:solidFill>
              </a:rPr>
              <a:t>IndianBlueBook</a:t>
            </a:r>
            <a:r>
              <a:rPr lang="en-US" dirty="0">
                <a:solidFill>
                  <a:srgbClr val="FFFF00"/>
                </a:solidFill>
              </a:rPr>
              <a:t> report, 45% of the buyers want a car that is four to </a:t>
            </a:r>
            <a:r>
              <a:rPr lang="en-US" dirty="0" err="1">
                <a:solidFill>
                  <a:srgbClr val="FFFF00"/>
                </a:solidFill>
              </a:rPr>
              <a:t>fiveyears</a:t>
            </a:r>
            <a:r>
              <a:rPr lang="en-US" dirty="0">
                <a:solidFill>
                  <a:srgbClr val="FFFF00"/>
                </a:solidFill>
              </a:rPr>
              <a:t> old. However, 46% of the sellers want to sell their vehicle when it is six to eight years </a:t>
            </a:r>
            <a:r>
              <a:rPr lang="en-US" dirty="0" err="1">
                <a:solidFill>
                  <a:srgbClr val="FFFF00"/>
                </a:solidFill>
              </a:rPr>
              <a:t>old.Getting</a:t>
            </a:r>
            <a:r>
              <a:rPr lang="en-US" dirty="0">
                <a:solidFill>
                  <a:srgbClr val="FFFF00"/>
                </a:solidFill>
              </a:rPr>
              <a:t> your used car insured will cost you a lot less as compared to a new car.</a:t>
            </a:r>
            <a:endParaRPr lang="en-IN" dirty="0">
              <a:solidFill>
                <a:srgbClr val="FFFF00"/>
              </a:solidFill>
            </a:endParaRPr>
          </a:p>
        </p:txBody>
      </p:sp>
    </p:spTree>
    <p:extLst>
      <p:ext uri="{BB962C8B-B14F-4D97-AF65-F5344CB8AC3E}">
        <p14:creationId xmlns:p14="http://schemas.microsoft.com/office/powerpoint/2010/main" val="102700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DED24-C93B-E011-B924-53EE9E08AA32}"/>
              </a:ext>
            </a:extLst>
          </p:cNvPr>
          <p:cNvSpPr>
            <a:spLocks noGrp="1"/>
          </p:cNvSpPr>
          <p:nvPr>
            <p:ph type="title"/>
          </p:nvPr>
        </p:nvSpPr>
        <p:spPr/>
        <p:txBody>
          <a:bodyPr/>
          <a:lstStyle/>
          <a:p>
            <a:pPr algn="ctr"/>
            <a:r>
              <a:rPr lang="en-IN" sz="4400" dirty="0">
                <a:solidFill>
                  <a:srgbClr val="FFFF00"/>
                </a:solidFill>
                <a:effectLst/>
                <a:highlight>
                  <a:srgbClr val="800080"/>
                </a:highlight>
                <a:latin typeface="Algerian" panose="04020705040A02060702" pitchFamily="82" charset="0"/>
                <a:ea typeface="Calibri" panose="020F0502020204030204" pitchFamily="34" charset="0"/>
                <a:cs typeface="Times New Roman" panose="02020603050405020304" pitchFamily="18" charset="0"/>
              </a:rPr>
              <a:t>Conceptual Background of the Domain Problem</a:t>
            </a:r>
            <a:br>
              <a:rPr lang="en-IN" sz="4400" dirty="0">
                <a:effectLst/>
                <a:latin typeface="Algerian" panose="04020705040A02060702" pitchFamily="82"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8D55C302-07D3-0CCE-A0FF-C1D3A52E01AF}"/>
              </a:ext>
            </a:extLst>
          </p:cNvPr>
          <p:cNvSpPr>
            <a:spLocks noGrp="1"/>
          </p:cNvSpPr>
          <p:nvPr>
            <p:ph idx="1"/>
          </p:nvPr>
        </p:nvSpPr>
        <p:spPr/>
        <p:txBody>
          <a:bodyPr>
            <a:normAutofit/>
          </a:bodyPr>
          <a:lstStyle/>
          <a:p>
            <a:pPr algn="just"/>
            <a:r>
              <a:rPr lang="en-US" sz="2400" dirty="0">
                <a:solidFill>
                  <a:srgbClr val="FFFF00"/>
                </a:solidFill>
              </a:rPr>
              <a:t>we are going to work on a dataset which consists information about the car, price. When we work on these sorts of data, we need to see which column is important for us and which is not. Our main aim today is to make a model which can give us a good prediction on the price of the car based on other variables. We are going to use Linear Regression for this dataset and see if it gives us a good accuracy or not.</a:t>
            </a:r>
            <a:endParaRPr lang="en-IN" sz="2400" dirty="0">
              <a:solidFill>
                <a:srgbClr val="FFFF00"/>
              </a:solidFill>
            </a:endParaRPr>
          </a:p>
        </p:txBody>
      </p:sp>
    </p:spTree>
    <p:extLst>
      <p:ext uri="{BB962C8B-B14F-4D97-AF65-F5344CB8AC3E}">
        <p14:creationId xmlns:p14="http://schemas.microsoft.com/office/powerpoint/2010/main" val="1468515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0A4BF-6E29-0D38-3854-F30B4EF199C0}"/>
              </a:ext>
            </a:extLst>
          </p:cNvPr>
          <p:cNvSpPr>
            <a:spLocks noGrp="1"/>
          </p:cNvSpPr>
          <p:nvPr>
            <p:ph type="title"/>
          </p:nvPr>
        </p:nvSpPr>
        <p:spPr/>
        <p:txBody>
          <a:bodyPr/>
          <a:lstStyle/>
          <a:p>
            <a:pPr algn="ctr"/>
            <a:r>
              <a:rPr lang="en-US" sz="4400" dirty="0">
                <a:solidFill>
                  <a:srgbClr val="FFFF00"/>
                </a:solidFill>
                <a:highlight>
                  <a:srgbClr val="800080"/>
                </a:highlight>
                <a:latin typeface="Algerian" panose="04020705040A02060702" pitchFamily="82" charset="0"/>
              </a:rPr>
              <a:t>Data Sources and their formats</a:t>
            </a:r>
            <a:br>
              <a:rPr lang="en-US" sz="4400" dirty="0">
                <a:latin typeface="Algerian" panose="04020705040A02060702" pitchFamily="82" charset="0"/>
              </a:rPr>
            </a:br>
            <a:endParaRPr lang="en-IN" dirty="0"/>
          </a:p>
        </p:txBody>
      </p:sp>
      <p:sp>
        <p:nvSpPr>
          <p:cNvPr id="3" name="Content Placeholder 2">
            <a:extLst>
              <a:ext uri="{FF2B5EF4-FFF2-40B4-BE49-F238E27FC236}">
                <a16:creationId xmlns:a16="http://schemas.microsoft.com/office/drawing/2014/main" id="{7ACAE385-7F4D-08FF-2982-16A886EED75C}"/>
              </a:ext>
            </a:extLst>
          </p:cNvPr>
          <p:cNvSpPr>
            <a:spLocks noGrp="1"/>
          </p:cNvSpPr>
          <p:nvPr>
            <p:ph idx="1"/>
          </p:nvPr>
        </p:nvSpPr>
        <p:spPr>
          <a:xfrm>
            <a:off x="1103312" y="2052918"/>
            <a:ext cx="9729529" cy="4450519"/>
          </a:xfrm>
        </p:spPr>
        <p:txBody>
          <a:bodyPr>
            <a:normAutofit/>
          </a:bodyPr>
          <a:lstStyle/>
          <a:p>
            <a:r>
              <a:rPr lang="en-US" dirty="0">
                <a:solidFill>
                  <a:srgbClr val="FFFF00"/>
                </a:solidFill>
              </a:rPr>
              <a:t>I have scraped the old car data from </a:t>
            </a:r>
            <a:r>
              <a:rPr lang="en-US" dirty="0" err="1">
                <a:solidFill>
                  <a:srgbClr val="FFFF00"/>
                </a:solidFill>
              </a:rPr>
              <a:t>olx</a:t>
            </a:r>
            <a:r>
              <a:rPr lang="en-US" dirty="0">
                <a:solidFill>
                  <a:srgbClr val="FFFF00"/>
                </a:solidFill>
              </a:rPr>
              <a:t> and car dekho.com. The dataset contains 6224 rows and 10 columns having both numerical and categorical data. </a:t>
            </a:r>
          </a:p>
          <a:p>
            <a:r>
              <a:rPr lang="en-US" dirty="0">
                <a:solidFill>
                  <a:srgbClr val="FFFF00"/>
                </a:solidFill>
              </a:rPr>
              <a:t>In this dataset " car Price" is our target variable which has float values. So this is a "Regression type" problem.</a:t>
            </a:r>
          </a:p>
          <a:p>
            <a:r>
              <a:rPr lang="en-US" dirty="0">
                <a:solidFill>
                  <a:srgbClr val="FFFF00"/>
                </a:solidFill>
              </a:rPr>
              <a:t>you can download the dataset from the below link.</a:t>
            </a:r>
          </a:p>
          <a:p>
            <a:r>
              <a:rPr lang="en-US" dirty="0">
                <a:solidFill>
                  <a:srgbClr val="FFFF00"/>
                </a:solidFill>
              </a:rPr>
              <a:t>Dataset link: </a:t>
            </a:r>
          </a:p>
          <a:p>
            <a:r>
              <a:rPr lang="en-IN" dirty="0">
                <a:solidFill>
                  <a:srgbClr val="FFFF00"/>
                </a:solidFill>
              </a:rPr>
              <a:t>https://github.com/KBkoushik/Old-Car-Price-Prediction/blob/d7b6b485d50e627e8973d095ce7b20355a6bfb14/OLd%20Car%20Price%20Webscraping%20Data.csv</a:t>
            </a:r>
          </a:p>
        </p:txBody>
      </p:sp>
    </p:spTree>
    <p:extLst>
      <p:ext uri="{BB962C8B-B14F-4D97-AF65-F5344CB8AC3E}">
        <p14:creationId xmlns:p14="http://schemas.microsoft.com/office/powerpoint/2010/main" val="1317998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68E6C-1120-BEB7-B800-1BA5E2544285}"/>
              </a:ext>
            </a:extLst>
          </p:cNvPr>
          <p:cNvSpPr>
            <a:spLocks noGrp="1"/>
          </p:cNvSpPr>
          <p:nvPr>
            <p:ph type="title"/>
          </p:nvPr>
        </p:nvSpPr>
        <p:spPr/>
        <p:txBody>
          <a:bodyPr/>
          <a:lstStyle/>
          <a:p>
            <a:pPr algn="ctr"/>
            <a:r>
              <a:rPr lang="en-IN" sz="4400" dirty="0">
                <a:solidFill>
                  <a:srgbClr val="FFFF00"/>
                </a:solidFill>
                <a:highlight>
                  <a:srgbClr val="800080"/>
                </a:highlight>
                <a:latin typeface="Algerian" panose="04020705040A02060702" pitchFamily="82" charset="0"/>
              </a:rPr>
              <a:t>About The </a:t>
            </a:r>
            <a:r>
              <a:rPr lang="en-IN" sz="4400" dirty="0" err="1">
                <a:solidFill>
                  <a:srgbClr val="FFFF00"/>
                </a:solidFill>
                <a:highlight>
                  <a:srgbClr val="800080"/>
                </a:highlight>
                <a:latin typeface="Algerian" panose="04020705040A02060702" pitchFamily="82" charset="0"/>
              </a:rPr>
              <a:t>DataSet</a:t>
            </a:r>
            <a:br>
              <a:rPr lang="en-IN" sz="4400" dirty="0">
                <a:latin typeface="Algerian" panose="04020705040A02060702" pitchFamily="82" charset="0"/>
              </a:rPr>
            </a:br>
            <a:endParaRPr lang="en-IN" dirty="0"/>
          </a:p>
        </p:txBody>
      </p:sp>
      <p:sp>
        <p:nvSpPr>
          <p:cNvPr id="3" name="Content Placeholder 2">
            <a:extLst>
              <a:ext uri="{FF2B5EF4-FFF2-40B4-BE49-F238E27FC236}">
                <a16:creationId xmlns:a16="http://schemas.microsoft.com/office/drawing/2014/main" id="{6B753D86-3755-0A07-E0A1-486399EF19D2}"/>
              </a:ext>
            </a:extLst>
          </p:cNvPr>
          <p:cNvSpPr>
            <a:spLocks noGrp="1"/>
          </p:cNvSpPr>
          <p:nvPr>
            <p:ph idx="1"/>
          </p:nvPr>
        </p:nvSpPr>
        <p:spPr/>
        <p:txBody>
          <a:bodyPr>
            <a:normAutofit lnSpcReduction="10000"/>
          </a:bodyPr>
          <a:lstStyle/>
          <a:p>
            <a:pPr algn="just"/>
            <a:r>
              <a:rPr lang="en-IN" dirty="0">
                <a:solidFill>
                  <a:srgbClr val="FFFF00"/>
                </a:solidFill>
              </a:rPr>
              <a:t>'Model’</a:t>
            </a:r>
          </a:p>
          <a:p>
            <a:pPr algn="just"/>
            <a:r>
              <a:rPr lang="en-IN" dirty="0">
                <a:solidFill>
                  <a:srgbClr val="FFFF00"/>
                </a:solidFill>
              </a:rPr>
              <a:t> '</a:t>
            </a:r>
            <a:r>
              <a:rPr lang="en-IN" dirty="0" err="1">
                <a:solidFill>
                  <a:srgbClr val="FFFF00"/>
                </a:solidFill>
              </a:rPr>
              <a:t>Make_Year</a:t>
            </a:r>
            <a:r>
              <a:rPr lang="en-IN" dirty="0">
                <a:solidFill>
                  <a:srgbClr val="FFFF00"/>
                </a:solidFill>
              </a:rPr>
              <a:t>’</a:t>
            </a:r>
          </a:p>
          <a:p>
            <a:pPr algn="just"/>
            <a:r>
              <a:rPr lang="en-IN" dirty="0">
                <a:solidFill>
                  <a:srgbClr val="FFFF00"/>
                </a:solidFill>
              </a:rPr>
              <a:t> '</a:t>
            </a:r>
            <a:r>
              <a:rPr lang="en-IN" dirty="0" err="1">
                <a:solidFill>
                  <a:srgbClr val="FFFF00"/>
                </a:solidFill>
              </a:rPr>
              <a:t>Driven_Kilometers</a:t>
            </a:r>
            <a:r>
              <a:rPr lang="en-IN" dirty="0">
                <a:solidFill>
                  <a:srgbClr val="FFFF00"/>
                </a:solidFill>
              </a:rPr>
              <a:t>'</a:t>
            </a:r>
          </a:p>
          <a:p>
            <a:pPr algn="just"/>
            <a:r>
              <a:rPr lang="en-IN" dirty="0">
                <a:solidFill>
                  <a:srgbClr val="FFFF00"/>
                </a:solidFill>
              </a:rPr>
              <a:t> 'Fuel’</a:t>
            </a:r>
          </a:p>
          <a:p>
            <a:pPr algn="just"/>
            <a:r>
              <a:rPr lang="en-IN" dirty="0">
                <a:solidFill>
                  <a:srgbClr val="FFFF00"/>
                </a:solidFill>
              </a:rPr>
              <a:t> 'Transmission’</a:t>
            </a:r>
          </a:p>
          <a:p>
            <a:pPr algn="just"/>
            <a:r>
              <a:rPr lang="en-IN" dirty="0">
                <a:solidFill>
                  <a:srgbClr val="FFFF00"/>
                </a:solidFill>
              </a:rPr>
              <a:t> 'Owner(s)’</a:t>
            </a:r>
          </a:p>
          <a:p>
            <a:pPr algn="just"/>
            <a:r>
              <a:rPr lang="en-IN" dirty="0">
                <a:solidFill>
                  <a:srgbClr val="FFFF00"/>
                </a:solidFill>
              </a:rPr>
              <a:t> 'Mileage’</a:t>
            </a:r>
          </a:p>
          <a:p>
            <a:pPr algn="just"/>
            <a:r>
              <a:rPr lang="en-IN" dirty="0">
                <a:solidFill>
                  <a:srgbClr val="FFFF00"/>
                </a:solidFill>
              </a:rPr>
              <a:t> 'Engine’</a:t>
            </a:r>
          </a:p>
          <a:p>
            <a:pPr algn="just"/>
            <a:r>
              <a:rPr lang="en-IN" dirty="0">
                <a:solidFill>
                  <a:srgbClr val="FFFF00"/>
                </a:solidFill>
              </a:rPr>
              <a:t>'Price’</a:t>
            </a:r>
          </a:p>
          <a:p>
            <a:pPr algn="just"/>
            <a:r>
              <a:rPr lang="en-IN" dirty="0">
                <a:solidFill>
                  <a:srgbClr val="FFFF00"/>
                </a:solidFill>
              </a:rPr>
              <a:t>'Location</a:t>
            </a:r>
            <a:r>
              <a:rPr lang="en-IN" dirty="0"/>
              <a:t>'</a:t>
            </a:r>
          </a:p>
        </p:txBody>
      </p:sp>
    </p:spTree>
    <p:extLst>
      <p:ext uri="{BB962C8B-B14F-4D97-AF65-F5344CB8AC3E}">
        <p14:creationId xmlns:p14="http://schemas.microsoft.com/office/powerpoint/2010/main" val="4229281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E71F6-18B4-7764-CF47-C472A3AF33BA}"/>
              </a:ext>
            </a:extLst>
          </p:cNvPr>
          <p:cNvSpPr>
            <a:spLocks noGrp="1"/>
          </p:cNvSpPr>
          <p:nvPr>
            <p:ph type="title"/>
          </p:nvPr>
        </p:nvSpPr>
        <p:spPr/>
        <p:txBody>
          <a:bodyPr/>
          <a:lstStyle/>
          <a:p>
            <a:pPr algn="ctr"/>
            <a:r>
              <a:rPr lang="en-IN" sz="4400" dirty="0">
                <a:solidFill>
                  <a:srgbClr val="FFFF00"/>
                </a:solidFill>
                <a:highlight>
                  <a:srgbClr val="800080"/>
                </a:highlight>
                <a:latin typeface="Algerian" panose="04020705040A02060702" pitchFamily="82" charset="0"/>
              </a:rPr>
              <a:t>Data </a:t>
            </a:r>
            <a:r>
              <a:rPr lang="en-IN" sz="4400" dirty="0" err="1">
                <a:solidFill>
                  <a:srgbClr val="FFFF00"/>
                </a:solidFill>
                <a:highlight>
                  <a:srgbClr val="800080"/>
                </a:highlight>
                <a:latin typeface="Algerian" panose="04020705040A02060702" pitchFamily="82" charset="0"/>
              </a:rPr>
              <a:t>Preprocessing</a:t>
            </a:r>
            <a:br>
              <a:rPr lang="en-IN" sz="4400" dirty="0">
                <a:latin typeface="Algerian" panose="04020705040A02060702" pitchFamily="82" charset="0"/>
              </a:rPr>
            </a:br>
            <a:endParaRPr lang="en-IN" dirty="0"/>
          </a:p>
        </p:txBody>
      </p:sp>
      <p:sp>
        <p:nvSpPr>
          <p:cNvPr id="3" name="Content Placeholder 2">
            <a:extLst>
              <a:ext uri="{FF2B5EF4-FFF2-40B4-BE49-F238E27FC236}">
                <a16:creationId xmlns:a16="http://schemas.microsoft.com/office/drawing/2014/main" id="{54C2CF2A-EE21-AEAD-E10A-29F0F7691EE3}"/>
              </a:ext>
            </a:extLst>
          </p:cNvPr>
          <p:cNvSpPr>
            <a:spLocks noGrp="1"/>
          </p:cNvSpPr>
          <p:nvPr>
            <p:ph idx="1"/>
          </p:nvPr>
        </p:nvSpPr>
        <p:spPr>
          <a:xfrm>
            <a:off x="1103311" y="1147665"/>
            <a:ext cx="11017153" cy="5635689"/>
          </a:xfrm>
        </p:spPr>
        <p:txBody>
          <a:bodyPr>
            <a:normAutofit/>
          </a:bodyPr>
          <a:lstStyle/>
          <a:p>
            <a:pPr marL="0" indent="0">
              <a:buNone/>
            </a:pPr>
            <a:r>
              <a:rPr lang="en-US" dirty="0">
                <a:solidFill>
                  <a:srgbClr val="FFFF00"/>
                </a:solidFill>
              </a:rPr>
              <a:t>For the purpose of the project the dataset has been preprocessed as follows:</a:t>
            </a:r>
          </a:p>
          <a:p>
            <a:r>
              <a:rPr lang="en-US" dirty="0">
                <a:solidFill>
                  <a:srgbClr val="FFFF00"/>
                </a:solidFill>
              </a:rPr>
              <a:t>•	we divide all the columns into categorical and numerical types</a:t>
            </a:r>
          </a:p>
          <a:p>
            <a:r>
              <a:rPr lang="en-US" dirty="0">
                <a:solidFill>
                  <a:srgbClr val="FFFF00"/>
                </a:solidFill>
              </a:rPr>
              <a:t>•	Univariate Analysis Of Categorical Columns and numerical columns.</a:t>
            </a:r>
          </a:p>
          <a:p>
            <a:r>
              <a:rPr lang="en-US" dirty="0">
                <a:solidFill>
                  <a:srgbClr val="FFFF00"/>
                </a:solidFill>
              </a:rPr>
              <a:t>•	Checking correlation with target column using Heatmap</a:t>
            </a:r>
          </a:p>
          <a:p>
            <a:r>
              <a:rPr lang="en-US" dirty="0">
                <a:solidFill>
                  <a:srgbClr val="FFFF00"/>
                </a:solidFill>
              </a:rPr>
              <a:t>•	Checking skewness of each columns</a:t>
            </a:r>
          </a:p>
          <a:p>
            <a:r>
              <a:rPr lang="en-US" dirty="0">
                <a:solidFill>
                  <a:srgbClr val="FFFF00"/>
                </a:solidFill>
              </a:rPr>
              <a:t>•	Handling missing value</a:t>
            </a:r>
          </a:p>
          <a:p>
            <a:r>
              <a:rPr lang="en-US" dirty="0">
                <a:solidFill>
                  <a:srgbClr val="FFFF00"/>
                </a:solidFill>
              </a:rPr>
              <a:t>•	Checking Outliers and removing outliers by </a:t>
            </a:r>
            <a:r>
              <a:rPr lang="en-US" dirty="0" err="1">
                <a:solidFill>
                  <a:srgbClr val="FFFF00"/>
                </a:solidFill>
              </a:rPr>
              <a:t>zscore</a:t>
            </a:r>
            <a:endParaRPr lang="en-US" dirty="0">
              <a:solidFill>
                <a:srgbClr val="FFFF00"/>
              </a:solidFill>
            </a:endParaRPr>
          </a:p>
          <a:p>
            <a:r>
              <a:rPr lang="en-US" dirty="0">
                <a:solidFill>
                  <a:srgbClr val="FFFF00"/>
                </a:solidFill>
              </a:rPr>
              <a:t>•	Encoding the categorical column by Label Encoder</a:t>
            </a:r>
          </a:p>
          <a:p>
            <a:r>
              <a:rPr lang="en-US" dirty="0">
                <a:solidFill>
                  <a:srgbClr val="FFFF00"/>
                </a:solidFill>
              </a:rPr>
              <a:t>•	Dividing data into features and vectors</a:t>
            </a:r>
          </a:p>
          <a:p>
            <a:r>
              <a:rPr lang="en-US" dirty="0">
                <a:solidFill>
                  <a:srgbClr val="FFFF00"/>
                </a:solidFill>
              </a:rPr>
              <a:t>•	Checking VIF score</a:t>
            </a:r>
          </a:p>
          <a:p>
            <a:r>
              <a:rPr lang="en-US" dirty="0">
                <a:solidFill>
                  <a:srgbClr val="FFFF00"/>
                </a:solidFill>
              </a:rPr>
              <a:t>•	Removing skewness by power transform method</a:t>
            </a:r>
          </a:p>
          <a:p>
            <a:r>
              <a:rPr lang="en-US" dirty="0">
                <a:solidFill>
                  <a:srgbClr val="FFFF00"/>
                </a:solidFill>
              </a:rPr>
              <a:t>•	Standardizing the data by standard scaler</a:t>
            </a:r>
          </a:p>
          <a:p>
            <a:endParaRPr lang="en-IN" dirty="0"/>
          </a:p>
        </p:txBody>
      </p:sp>
    </p:spTree>
    <p:extLst>
      <p:ext uri="{BB962C8B-B14F-4D97-AF65-F5344CB8AC3E}">
        <p14:creationId xmlns:p14="http://schemas.microsoft.com/office/powerpoint/2010/main" val="2528458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FD5F8-A07D-540A-F00D-6921D2B120BA}"/>
              </a:ext>
            </a:extLst>
          </p:cNvPr>
          <p:cNvSpPr>
            <a:spLocks noGrp="1"/>
          </p:cNvSpPr>
          <p:nvPr>
            <p:ph type="title"/>
          </p:nvPr>
        </p:nvSpPr>
        <p:spPr/>
        <p:txBody>
          <a:bodyPr/>
          <a:lstStyle/>
          <a:p>
            <a:pPr algn="ctr"/>
            <a:r>
              <a:rPr lang="en-US" sz="4400" dirty="0">
                <a:solidFill>
                  <a:srgbClr val="FFFF00"/>
                </a:solidFill>
                <a:highlight>
                  <a:srgbClr val="800080"/>
                </a:highlight>
                <a:latin typeface="Algerian" panose="04020705040A02060702" pitchFamily="82" charset="0"/>
              </a:rPr>
              <a:t>Hardware and Software Requirements and Tools Used</a:t>
            </a:r>
            <a:br>
              <a:rPr lang="en-US" sz="4400" dirty="0">
                <a:latin typeface="Algerian" panose="04020705040A02060702" pitchFamily="82" charset="0"/>
              </a:rPr>
            </a:br>
            <a:endParaRPr lang="en-IN" dirty="0"/>
          </a:p>
        </p:txBody>
      </p:sp>
      <p:sp>
        <p:nvSpPr>
          <p:cNvPr id="3" name="Content Placeholder 2">
            <a:extLst>
              <a:ext uri="{FF2B5EF4-FFF2-40B4-BE49-F238E27FC236}">
                <a16:creationId xmlns:a16="http://schemas.microsoft.com/office/drawing/2014/main" id="{C4D56F61-9AB7-9167-77E1-46EEEF4C44DA}"/>
              </a:ext>
            </a:extLst>
          </p:cNvPr>
          <p:cNvSpPr>
            <a:spLocks noGrp="1"/>
          </p:cNvSpPr>
          <p:nvPr>
            <p:ph idx="1"/>
          </p:nvPr>
        </p:nvSpPr>
        <p:spPr>
          <a:xfrm>
            <a:off x="0" y="2052918"/>
            <a:ext cx="12120465" cy="4805082"/>
          </a:xfrm>
        </p:spPr>
        <p:txBody>
          <a:bodyPr>
            <a:normAutofit/>
          </a:bodyPr>
          <a:lstStyle/>
          <a:p>
            <a:pPr algn="just">
              <a:lnSpc>
                <a:spcPct val="200000"/>
              </a:lnSpc>
            </a:pPr>
            <a:r>
              <a:rPr lang="en-IN" sz="3600" dirty="0">
                <a:solidFill>
                  <a:srgbClr val="FFFF00"/>
                </a:solidFill>
              </a:rPr>
              <a:t>Hardware:- Desktop/Laptop</a:t>
            </a:r>
          </a:p>
          <a:p>
            <a:pPr algn="just">
              <a:lnSpc>
                <a:spcPct val="200000"/>
              </a:lnSpc>
            </a:pPr>
            <a:r>
              <a:rPr lang="en-IN" sz="3600" dirty="0">
                <a:solidFill>
                  <a:srgbClr val="FFFF00"/>
                </a:solidFill>
              </a:rPr>
              <a:t>Software:- Anaconda</a:t>
            </a:r>
          </a:p>
          <a:p>
            <a:pPr marL="0" indent="0">
              <a:buNone/>
            </a:pPr>
            <a:r>
              <a:rPr lang="en-IN" dirty="0"/>
              <a:t> </a:t>
            </a:r>
          </a:p>
          <a:p>
            <a:endParaRPr lang="en-IN" dirty="0"/>
          </a:p>
        </p:txBody>
      </p:sp>
    </p:spTree>
    <p:extLst>
      <p:ext uri="{BB962C8B-B14F-4D97-AF65-F5344CB8AC3E}">
        <p14:creationId xmlns:p14="http://schemas.microsoft.com/office/powerpoint/2010/main" val="1364099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CD3A7-690B-427E-5006-357F27BCFE81}"/>
              </a:ext>
            </a:extLst>
          </p:cNvPr>
          <p:cNvSpPr>
            <a:spLocks noGrp="1"/>
          </p:cNvSpPr>
          <p:nvPr>
            <p:ph type="title"/>
          </p:nvPr>
        </p:nvSpPr>
        <p:spPr/>
        <p:txBody>
          <a:bodyPr/>
          <a:lstStyle/>
          <a:p>
            <a:pPr algn="ctr"/>
            <a:r>
              <a:rPr lang="en-IN" sz="4400" dirty="0">
                <a:solidFill>
                  <a:srgbClr val="FFFF00"/>
                </a:solidFill>
                <a:highlight>
                  <a:srgbClr val="800080"/>
                </a:highlight>
                <a:latin typeface="Algerian" panose="04020705040A02060702" pitchFamily="82" charset="0"/>
              </a:rPr>
              <a:t>selected models</a:t>
            </a:r>
            <a:br>
              <a:rPr lang="en-IN" sz="4400" dirty="0">
                <a:latin typeface="Algerian" panose="04020705040A02060702" pitchFamily="82" charset="0"/>
              </a:rPr>
            </a:br>
            <a:endParaRPr lang="en-IN" dirty="0"/>
          </a:p>
        </p:txBody>
      </p:sp>
      <p:sp>
        <p:nvSpPr>
          <p:cNvPr id="3" name="Content Placeholder 2">
            <a:extLst>
              <a:ext uri="{FF2B5EF4-FFF2-40B4-BE49-F238E27FC236}">
                <a16:creationId xmlns:a16="http://schemas.microsoft.com/office/drawing/2014/main" id="{4D4E8E59-902B-6F94-246C-32BEC65ABDC7}"/>
              </a:ext>
            </a:extLst>
          </p:cNvPr>
          <p:cNvSpPr>
            <a:spLocks noGrp="1"/>
          </p:cNvSpPr>
          <p:nvPr>
            <p:ph idx="1"/>
          </p:nvPr>
        </p:nvSpPr>
        <p:spPr>
          <a:xfrm>
            <a:off x="1103312" y="2052918"/>
            <a:ext cx="9869488" cy="4195481"/>
          </a:xfrm>
        </p:spPr>
        <p:txBody>
          <a:bodyPr/>
          <a:lstStyle/>
          <a:p>
            <a:r>
              <a:rPr lang="en-US" dirty="0"/>
              <a:t>I used 13 different regression algorithms to get the ideal one for prediction.</a:t>
            </a:r>
          </a:p>
          <a:p>
            <a:endParaRPr lang="en-IN" dirty="0"/>
          </a:p>
        </p:txBody>
      </p:sp>
      <p:pic>
        <p:nvPicPr>
          <p:cNvPr id="4" name="Picture 3">
            <a:extLst>
              <a:ext uri="{FF2B5EF4-FFF2-40B4-BE49-F238E27FC236}">
                <a16:creationId xmlns:a16="http://schemas.microsoft.com/office/drawing/2014/main" id="{2B1BDC7C-1F42-BA05-495E-71EE592B3F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9612" y="2448558"/>
            <a:ext cx="9194608" cy="3956724"/>
          </a:xfrm>
          <a:prstGeom prst="rect">
            <a:avLst/>
          </a:prstGeom>
        </p:spPr>
      </p:pic>
    </p:spTree>
    <p:extLst>
      <p:ext uri="{BB962C8B-B14F-4D97-AF65-F5344CB8AC3E}">
        <p14:creationId xmlns:p14="http://schemas.microsoft.com/office/powerpoint/2010/main" val="765974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84B3B-44E0-A142-2569-62289A1EC89B}"/>
              </a:ext>
            </a:extLst>
          </p:cNvPr>
          <p:cNvSpPr>
            <a:spLocks noGrp="1"/>
          </p:cNvSpPr>
          <p:nvPr>
            <p:ph type="title"/>
          </p:nvPr>
        </p:nvSpPr>
        <p:spPr/>
        <p:txBody>
          <a:bodyPr/>
          <a:lstStyle/>
          <a:p>
            <a:pPr algn="ctr"/>
            <a:r>
              <a:rPr lang="en-IN" sz="4400" dirty="0">
                <a:solidFill>
                  <a:srgbClr val="FFFF00"/>
                </a:solidFill>
                <a:highlight>
                  <a:srgbClr val="800080"/>
                </a:highlight>
                <a:latin typeface="Algerian" panose="04020705040A02060702" pitchFamily="82" charset="0"/>
              </a:rPr>
              <a:t>Accuracy score of the model</a:t>
            </a:r>
            <a:br>
              <a:rPr lang="en-IN" sz="4400" dirty="0">
                <a:latin typeface="Algerian" panose="04020705040A02060702" pitchFamily="82" charset="0"/>
              </a:rPr>
            </a:br>
            <a:endParaRPr lang="en-IN" dirty="0"/>
          </a:p>
        </p:txBody>
      </p:sp>
      <p:graphicFrame>
        <p:nvGraphicFramePr>
          <p:cNvPr id="5" name="Table 5">
            <a:extLst>
              <a:ext uri="{FF2B5EF4-FFF2-40B4-BE49-F238E27FC236}">
                <a16:creationId xmlns:a16="http://schemas.microsoft.com/office/drawing/2014/main" id="{72AC551C-2B88-33F5-EB05-842CB059A486}"/>
              </a:ext>
            </a:extLst>
          </p:cNvPr>
          <p:cNvGraphicFramePr>
            <a:graphicFrameLocks noGrp="1"/>
          </p:cNvGraphicFramePr>
          <p:nvPr>
            <p:ph idx="1"/>
            <p:extLst>
              <p:ext uri="{D42A27DB-BD31-4B8C-83A1-F6EECF244321}">
                <p14:modId xmlns:p14="http://schemas.microsoft.com/office/powerpoint/2010/main" val="306251375"/>
              </p:ext>
            </p:extLst>
          </p:nvPr>
        </p:nvGraphicFramePr>
        <p:xfrm>
          <a:off x="1119673" y="1268867"/>
          <a:ext cx="5561045" cy="3163176"/>
        </p:xfrm>
        <a:graphic>
          <a:graphicData uri="http://schemas.openxmlformats.org/drawingml/2006/table">
            <a:tbl>
              <a:tblPr firstRow="1" bandRow="1">
                <a:tableStyleId>{D7AC3CCA-C797-4891-BE02-D94E43425B78}</a:tableStyleId>
              </a:tblPr>
              <a:tblGrid>
                <a:gridCol w="2892490">
                  <a:extLst>
                    <a:ext uri="{9D8B030D-6E8A-4147-A177-3AD203B41FA5}">
                      <a16:colId xmlns:a16="http://schemas.microsoft.com/office/drawing/2014/main" val="3487748573"/>
                    </a:ext>
                  </a:extLst>
                </a:gridCol>
                <a:gridCol w="2668555">
                  <a:extLst>
                    <a:ext uri="{9D8B030D-6E8A-4147-A177-3AD203B41FA5}">
                      <a16:colId xmlns:a16="http://schemas.microsoft.com/office/drawing/2014/main" val="146001478"/>
                    </a:ext>
                  </a:extLst>
                </a:gridCol>
              </a:tblGrid>
              <a:tr h="395397">
                <a:tc>
                  <a:txBody>
                    <a:bodyPr/>
                    <a:lstStyle/>
                    <a:p>
                      <a:pPr algn="ctr"/>
                      <a:r>
                        <a:rPr lang="en-IN" dirty="0"/>
                        <a:t>Model Name</a:t>
                      </a:r>
                    </a:p>
                  </a:txBody>
                  <a:tcPr/>
                </a:tc>
                <a:tc>
                  <a:txBody>
                    <a:bodyPr/>
                    <a:lstStyle/>
                    <a:p>
                      <a:pPr algn="ctr"/>
                      <a:r>
                        <a:rPr lang="en-IN" dirty="0"/>
                        <a:t>Accuracy Score</a:t>
                      </a:r>
                    </a:p>
                  </a:txBody>
                  <a:tcPr/>
                </a:tc>
                <a:extLst>
                  <a:ext uri="{0D108BD9-81ED-4DB2-BD59-A6C34878D82A}">
                    <a16:rowId xmlns:a16="http://schemas.microsoft.com/office/drawing/2014/main" val="2589463234"/>
                  </a:ext>
                </a:extLst>
              </a:tr>
              <a:tr h="395397">
                <a:tc>
                  <a:txBody>
                    <a:bodyPr/>
                    <a:lstStyle/>
                    <a:p>
                      <a:r>
                        <a:rPr lang="en-IN" b="1" dirty="0" err="1">
                          <a:solidFill>
                            <a:schemeClr val="bg1"/>
                          </a:solidFill>
                        </a:rPr>
                        <a:t>LinearRegression</a:t>
                      </a:r>
                      <a:endParaRPr lang="en-IN" b="1" dirty="0">
                        <a:solidFill>
                          <a:schemeClr val="bg1"/>
                        </a:solidFill>
                      </a:endParaRPr>
                    </a:p>
                  </a:txBody>
                  <a:tcPr/>
                </a:tc>
                <a:tc>
                  <a:txBody>
                    <a:bodyPr/>
                    <a:lstStyle/>
                    <a:p>
                      <a:r>
                        <a:rPr lang="en-IN" dirty="0"/>
                        <a:t>0.6452931539854956</a:t>
                      </a:r>
                      <a:endParaRPr lang="en-IN" b="1" i="1" dirty="0"/>
                    </a:p>
                  </a:txBody>
                  <a:tcPr/>
                </a:tc>
                <a:extLst>
                  <a:ext uri="{0D108BD9-81ED-4DB2-BD59-A6C34878D82A}">
                    <a16:rowId xmlns:a16="http://schemas.microsoft.com/office/drawing/2014/main" val="3825492719"/>
                  </a:ext>
                </a:extLst>
              </a:tr>
              <a:tr h="395397">
                <a:tc>
                  <a:txBody>
                    <a:bodyPr/>
                    <a:lstStyle/>
                    <a:p>
                      <a:r>
                        <a:rPr lang="en-IN" b="1" dirty="0">
                          <a:solidFill>
                            <a:schemeClr val="bg1"/>
                          </a:solidFill>
                        </a:rPr>
                        <a:t>Ridge</a:t>
                      </a:r>
                    </a:p>
                  </a:txBody>
                  <a:tcPr/>
                </a:tc>
                <a:tc>
                  <a:txBody>
                    <a:bodyPr/>
                    <a:lstStyle/>
                    <a:p>
                      <a:r>
                        <a:rPr lang="en-IN" dirty="0"/>
                        <a:t>0.6452931277823244</a:t>
                      </a:r>
                      <a:endParaRPr lang="en-IN" b="1" i="1" dirty="0"/>
                    </a:p>
                  </a:txBody>
                  <a:tcPr/>
                </a:tc>
                <a:extLst>
                  <a:ext uri="{0D108BD9-81ED-4DB2-BD59-A6C34878D82A}">
                    <a16:rowId xmlns:a16="http://schemas.microsoft.com/office/drawing/2014/main" val="636701884"/>
                  </a:ext>
                </a:extLst>
              </a:tr>
              <a:tr h="395397">
                <a:tc>
                  <a:txBody>
                    <a:bodyPr/>
                    <a:lstStyle/>
                    <a:p>
                      <a:r>
                        <a:rPr lang="en-IN" b="1" dirty="0">
                          <a:solidFill>
                            <a:schemeClr val="bg1"/>
                          </a:solidFill>
                        </a:rPr>
                        <a:t>Lasso</a:t>
                      </a:r>
                    </a:p>
                  </a:txBody>
                  <a:tcPr/>
                </a:tc>
                <a:tc>
                  <a:txBody>
                    <a:bodyPr/>
                    <a:lstStyle/>
                    <a:p>
                      <a:r>
                        <a:rPr lang="en-IN" dirty="0"/>
                        <a:t>0.6452931539375557</a:t>
                      </a:r>
                      <a:endParaRPr lang="en-IN" b="1" i="1" dirty="0"/>
                    </a:p>
                  </a:txBody>
                  <a:tcPr/>
                </a:tc>
                <a:extLst>
                  <a:ext uri="{0D108BD9-81ED-4DB2-BD59-A6C34878D82A}">
                    <a16:rowId xmlns:a16="http://schemas.microsoft.com/office/drawing/2014/main" val="674378757"/>
                  </a:ext>
                </a:extLst>
              </a:tr>
              <a:tr h="395397">
                <a:tc>
                  <a:txBody>
                    <a:bodyPr/>
                    <a:lstStyle/>
                    <a:p>
                      <a:r>
                        <a:rPr lang="en-IN" b="1" dirty="0" err="1">
                          <a:solidFill>
                            <a:schemeClr val="bg1"/>
                          </a:solidFill>
                        </a:rPr>
                        <a:t>DecisionTreeRegressor</a:t>
                      </a:r>
                      <a:endParaRPr lang="en-IN" b="1" dirty="0">
                        <a:solidFill>
                          <a:schemeClr val="bg1"/>
                        </a:solidFill>
                      </a:endParaRPr>
                    </a:p>
                  </a:txBody>
                  <a:tcPr/>
                </a:tc>
                <a:tc>
                  <a:txBody>
                    <a:bodyPr/>
                    <a:lstStyle/>
                    <a:p>
                      <a:r>
                        <a:rPr lang="en-IN" dirty="0"/>
                        <a:t>0.9999916527197423</a:t>
                      </a:r>
                      <a:endParaRPr lang="en-IN" b="1" i="1" dirty="0"/>
                    </a:p>
                  </a:txBody>
                  <a:tcPr/>
                </a:tc>
                <a:extLst>
                  <a:ext uri="{0D108BD9-81ED-4DB2-BD59-A6C34878D82A}">
                    <a16:rowId xmlns:a16="http://schemas.microsoft.com/office/drawing/2014/main" val="726665741"/>
                  </a:ext>
                </a:extLst>
              </a:tr>
              <a:tr h="395397">
                <a:tc>
                  <a:txBody>
                    <a:bodyPr/>
                    <a:lstStyle/>
                    <a:p>
                      <a:r>
                        <a:rPr lang="en-IN" b="1" dirty="0">
                          <a:solidFill>
                            <a:schemeClr val="bg1"/>
                          </a:solidFill>
                        </a:rPr>
                        <a:t>SVR</a:t>
                      </a:r>
                    </a:p>
                  </a:txBody>
                  <a:tcPr/>
                </a:tc>
                <a:tc>
                  <a:txBody>
                    <a:bodyPr/>
                    <a:lstStyle/>
                    <a:p>
                      <a:r>
                        <a:rPr lang="en-IN" dirty="0"/>
                        <a:t>0.06459263507374624</a:t>
                      </a:r>
                      <a:endParaRPr lang="en-IN" b="1" i="1" dirty="0"/>
                    </a:p>
                  </a:txBody>
                  <a:tcPr/>
                </a:tc>
                <a:extLst>
                  <a:ext uri="{0D108BD9-81ED-4DB2-BD59-A6C34878D82A}">
                    <a16:rowId xmlns:a16="http://schemas.microsoft.com/office/drawing/2014/main" val="4236824164"/>
                  </a:ext>
                </a:extLst>
              </a:tr>
              <a:tr h="395397">
                <a:tc>
                  <a:txBody>
                    <a:bodyPr/>
                    <a:lstStyle/>
                    <a:p>
                      <a:r>
                        <a:rPr lang="en-IN" b="1" dirty="0" err="1">
                          <a:solidFill>
                            <a:schemeClr val="bg1"/>
                          </a:solidFill>
                        </a:rPr>
                        <a:t>KNeighborsRegressor</a:t>
                      </a:r>
                      <a:endParaRPr lang="en-IN" b="1" dirty="0">
                        <a:solidFill>
                          <a:schemeClr val="bg1"/>
                        </a:solidFill>
                      </a:endParaRPr>
                    </a:p>
                  </a:txBody>
                  <a:tcPr/>
                </a:tc>
                <a:tc>
                  <a:txBody>
                    <a:bodyPr/>
                    <a:lstStyle/>
                    <a:p>
                      <a:r>
                        <a:rPr lang="en-IN" dirty="0"/>
                        <a:t>0.8702798291992135</a:t>
                      </a:r>
                      <a:endParaRPr lang="en-IN" b="1" i="1" dirty="0"/>
                    </a:p>
                  </a:txBody>
                  <a:tcPr/>
                </a:tc>
                <a:extLst>
                  <a:ext uri="{0D108BD9-81ED-4DB2-BD59-A6C34878D82A}">
                    <a16:rowId xmlns:a16="http://schemas.microsoft.com/office/drawing/2014/main" val="2660852666"/>
                  </a:ext>
                </a:extLst>
              </a:tr>
              <a:tr h="395397">
                <a:tc>
                  <a:txBody>
                    <a:bodyPr/>
                    <a:lstStyle/>
                    <a:p>
                      <a:r>
                        <a:rPr lang="en-IN" b="1" dirty="0" err="1">
                          <a:solidFill>
                            <a:schemeClr val="bg1"/>
                          </a:solidFill>
                        </a:rPr>
                        <a:t>RandomForestRegressor</a:t>
                      </a:r>
                      <a:endParaRPr lang="en-IN" b="1" dirty="0">
                        <a:solidFill>
                          <a:schemeClr val="bg1"/>
                        </a:solidFill>
                      </a:endParaRPr>
                    </a:p>
                  </a:txBody>
                  <a:tcPr/>
                </a:tc>
                <a:tc>
                  <a:txBody>
                    <a:bodyPr/>
                    <a:lstStyle/>
                    <a:p>
                      <a:r>
                        <a:rPr lang="en-IN" dirty="0"/>
                        <a:t>0.9852526380106977</a:t>
                      </a:r>
                      <a:endParaRPr lang="en-IN" b="1" i="1" dirty="0"/>
                    </a:p>
                  </a:txBody>
                  <a:tcPr/>
                </a:tc>
                <a:extLst>
                  <a:ext uri="{0D108BD9-81ED-4DB2-BD59-A6C34878D82A}">
                    <a16:rowId xmlns:a16="http://schemas.microsoft.com/office/drawing/2014/main" val="3125538758"/>
                  </a:ext>
                </a:extLst>
              </a:tr>
            </a:tbl>
          </a:graphicData>
        </a:graphic>
      </p:graphicFrame>
      <p:graphicFrame>
        <p:nvGraphicFramePr>
          <p:cNvPr id="6" name="Table 6">
            <a:extLst>
              <a:ext uri="{FF2B5EF4-FFF2-40B4-BE49-F238E27FC236}">
                <a16:creationId xmlns:a16="http://schemas.microsoft.com/office/drawing/2014/main" id="{D3533710-9E1A-8D56-5997-6B62F112D3FB}"/>
              </a:ext>
            </a:extLst>
          </p:cNvPr>
          <p:cNvGraphicFramePr>
            <a:graphicFrameLocks noGrp="1"/>
          </p:cNvGraphicFramePr>
          <p:nvPr>
            <p:extLst>
              <p:ext uri="{D42A27DB-BD31-4B8C-83A1-F6EECF244321}">
                <p14:modId xmlns:p14="http://schemas.microsoft.com/office/powerpoint/2010/main" val="2505246122"/>
              </p:ext>
            </p:extLst>
          </p:nvPr>
        </p:nvGraphicFramePr>
        <p:xfrm>
          <a:off x="1119673" y="4432043"/>
          <a:ext cx="5561045" cy="2494280"/>
        </p:xfrm>
        <a:graphic>
          <a:graphicData uri="http://schemas.openxmlformats.org/drawingml/2006/table">
            <a:tbl>
              <a:tblPr firstRow="1" bandRow="1">
                <a:tableStyleId>{D7AC3CCA-C797-4891-BE02-D94E43425B78}</a:tableStyleId>
              </a:tblPr>
              <a:tblGrid>
                <a:gridCol w="2901821">
                  <a:extLst>
                    <a:ext uri="{9D8B030D-6E8A-4147-A177-3AD203B41FA5}">
                      <a16:colId xmlns:a16="http://schemas.microsoft.com/office/drawing/2014/main" val="2586506248"/>
                    </a:ext>
                  </a:extLst>
                </a:gridCol>
                <a:gridCol w="2659224">
                  <a:extLst>
                    <a:ext uri="{9D8B030D-6E8A-4147-A177-3AD203B41FA5}">
                      <a16:colId xmlns:a16="http://schemas.microsoft.com/office/drawing/2014/main" val="2927628954"/>
                    </a:ext>
                  </a:extLst>
                </a:gridCol>
              </a:tblGrid>
              <a:tr h="370840">
                <a:tc>
                  <a:txBody>
                    <a:bodyPr/>
                    <a:lstStyle/>
                    <a:p>
                      <a:r>
                        <a:rPr lang="en-IN" b="1" dirty="0" err="1"/>
                        <a:t>XGBRegressor</a:t>
                      </a:r>
                      <a:endParaRPr lang="en-IN" b="1" dirty="0"/>
                    </a:p>
                  </a:txBody>
                  <a:tcPr/>
                </a:tc>
                <a:tc>
                  <a:txBody>
                    <a:bodyPr/>
                    <a:lstStyle/>
                    <a:p>
                      <a:r>
                        <a:rPr lang="en-IN" b="0" dirty="0"/>
                        <a:t>0.9942845188810525</a:t>
                      </a:r>
                      <a:endParaRPr lang="en-IN" b="0" i="1" dirty="0"/>
                    </a:p>
                  </a:txBody>
                  <a:tcPr/>
                </a:tc>
                <a:extLst>
                  <a:ext uri="{0D108BD9-81ED-4DB2-BD59-A6C34878D82A}">
                    <a16:rowId xmlns:a16="http://schemas.microsoft.com/office/drawing/2014/main" val="2464777126"/>
                  </a:ext>
                </a:extLst>
              </a:tr>
              <a:tr h="370840">
                <a:tc>
                  <a:txBody>
                    <a:bodyPr/>
                    <a:lstStyle/>
                    <a:p>
                      <a:r>
                        <a:rPr lang="en-IN" b="1" dirty="0" err="1"/>
                        <a:t>ElasticNet</a:t>
                      </a:r>
                      <a:endParaRPr lang="en-IN" b="1" dirty="0"/>
                    </a:p>
                  </a:txBody>
                  <a:tcPr/>
                </a:tc>
                <a:tc>
                  <a:txBody>
                    <a:bodyPr/>
                    <a:lstStyle/>
                    <a:p>
                      <a:r>
                        <a:rPr lang="en-IN" dirty="0"/>
                        <a:t>0.598853842807132</a:t>
                      </a:r>
                      <a:endParaRPr lang="en-IN" b="1" i="1" dirty="0"/>
                    </a:p>
                  </a:txBody>
                  <a:tcPr/>
                </a:tc>
                <a:extLst>
                  <a:ext uri="{0D108BD9-81ED-4DB2-BD59-A6C34878D82A}">
                    <a16:rowId xmlns:a16="http://schemas.microsoft.com/office/drawing/2014/main" val="1460667832"/>
                  </a:ext>
                </a:extLst>
              </a:tr>
              <a:tr h="370840">
                <a:tc>
                  <a:txBody>
                    <a:bodyPr/>
                    <a:lstStyle/>
                    <a:p>
                      <a:r>
                        <a:rPr lang="en-IN" b="1" dirty="0" err="1"/>
                        <a:t>SGDRegressor</a:t>
                      </a:r>
                      <a:endParaRPr lang="en-IN" b="1" dirty="0"/>
                    </a:p>
                  </a:txBody>
                  <a:tcPr/>
                </a:tc>
                <a:tc>
                  <a:txBody>
                    <a:bodyPr/>
                    <a:lstStyle/>
                    <a:p>
                      <a:r>
                        <a:rPr lang="en-IN" dirty="0"/>
                        <a:t>0.6439521543615279</a:t>
                      </a:r>
                      <a:endParaRPr lang="en-IN" b="1" i="1" dirty="0"/>
                    </a:p>
                  </a:txBody>
                  <a:tcPr/>
                </a:tc>
                <a:extLst>
                  <a:ext uri="{0D108BD9-81ED-4DB2-BD59-A6C34878D82A}">
                    <a16:rowId xmlns:a16="http://schemas.microsoft.com/office/drawing/2014/main" val="1266429845"/>
                  </a:ext>
                </a:extLst>
              </a:tr>
              <a:tr h="370840">
                <a:tc>
                  <a:txBody>
                    <a:bodyPr/>
                    <a:lstStyle/>
                    <a:p>
                      <a:r>
                        <a:rPr lang="en-IN" b="1" dirty="0" err="1"/>
                        <a:t>BaggingRegressor</a:t>
                      </a:r>
                      <a:endParaRPr lang="en-IN" b="1" dirty="0"/>
                    </a:p>
                  </a:txBody>
                  <a:tcPr/>
                </a:tc>
                <a:tc>
                  <a:txBody>
                    <a:bodyPr/>
                    <a:lstStyle/>
                    <a:p>
                      <a:r>
                        <a:rPr lang="en-IN" dirty="0"/>
                        <a:t>0.9765825460543547</a:t>
                      </a:r>
                      <a:endParaRPr lang="en-IN" b="1" i="1" dirty="0"/>
                    </a:p>
                  </a:txBody>
                  <a:tcPr/>
                </a:tc>
                <a:extLst>
                  <a:ext uri="{0D108BD9-81ED-4DB2-BD59-A6C34878D82A}">
                    <a16:rowId xmlns:a16="http://schemas.microsoft.com/office/drawing/2014/main" val="3733127436"/>
                  </a:ext>
                </a:extLst>
              </a:tr>
              <a:tr h="370840">
                <a:tc>
                  <a:txBody>
                    <a:bodyPr/>
                    <a:lstStyle/>
                    <a:p>
                      <a:r>
                        <a:rPr lang="en-IN" b="1" dirty="0" err="1"/>
                        <a:t>AdaBoostRegressor</a:t>
                      </a:r>
                      <a:endParaRPr lang="en-IN" b="1" dirty="0"/>
                    </a:p>
                  </a:txBody>
                  <a:tcPr/>
                </a:tc>
                <a:tc>
                  <a:txBody>
                    <a:bodyPr/>
                    <a:lstStyle/>
                    <a:p>
                      <a:r>
                        <a:rPr lang="en-IN" dirty="0"/>
                        <a:t>0.656591588244267</a:t>
                      </a:r>
                      <a:endParaRPr lang="en-IN" b="1" i="1" dirty="0"/>
                    </a:p>
                  </a:txBody>
                  <a:tcPr/>
                </a:tc>
                <a:extLst>
                  <a:ext uri="{0D108BD9-81ED-4DB2-BD59-A6C34878D82A}">
                    <a16:rowId xmlns:a16="http://schemas.microsoft.com/office/drawing/2014/main" val="2303392778"/>
                  </a:ext>
                </a:extLst>
              </a:tr>
              <a:tr h="370840">
                <a:tc>
                  <a:txBody>
                    <a:bodyPr/>
                    <a:lstStyle/>
                    <a:p>
                      <a:r>
                        <a:rPr lang="en-IN" b="1" dirty="0" err="1"/>
                        <a:t>GradientBoostingRegressor</a:t>
                      </a:r>
                      <a:endParaRPr lang="en-IN" b="1" dirty="0"/>
                    </a:p>
                  </a:txBody>
                  <a:tcPr/>
                </a:tc>
                <a:tc>
                  <a:txBody>
                    <a:bodyPr/>
                    <a:lstStyle/>
                    <a:p>
                      <a:r>
                        <a:rPr lang="en-IN" dirty="0"/>
                        <a:t>0.908073849551413</a:t>
                      </a:r>
                      <a:endParaRPr lang="en-IN" b="1" i="1" dirty="0"/>
                    </a:p>
                  </a:txBody>
                  <a:tcPr/>
                </a:tc>
                <a:extLst>
                  <a:ext uri="{0D108BD9-81ED-4DB2-BD59-A6C34878D82A}">
                    <a16:rowId xmlns:a16="http://schemas.microsoft.com/office/drawing/2014/main" val="4014745713"/>
                  </a:ext>
                </a:extLst>
              </a:tr>
            </a:tbl>
          </a:graphicData>
        </a:graphic>
      </p:graphicFrame>
    </p:spTree>
    <p:extLst>
      <p:ext uri="{BB962C8B-B14F-4D97-AF65-F5344CB8AC3E}">
        <p14:creationId xmlns:p14="http://schemas.microsoft.com/office/powerpoint/2010/main" val="1007914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DB601-3F0F-13C5-EBFC-20F08D791228}"/>
              </a:ext>
            </a:extLst>
          </p:cNvPr>
          <p:cNvSpPr>
            <a:spLocks noGrp="1"/>
          </p:cNvSpPr>
          <p:nvPr>
            <p:ph type="title"/>
          </p:nvPr>
        </p:nvSpPr>
        <p:spPr/>
        <p:txBody>
          <a:bodyPr/>
          <a:lstStyle/>
          <a:p>
            <a:pPr algn="ctr"/>
            <a:r>
              <a:rPr lang="en-IN" dirty="0">
                <a:solidFill>
                  <a:srgbClr val="FFFF00"/>
                </a:solidFill>
                <a:highlight>
                  <a:srgbClr val="800080"/>
                </a:highlight>
                <a:latin typeface="Algerian" panose="04020705040A02060702" pitchFamily="82" charset="0"/>
              </a:rPr>
              <a:t>Cross Val Score</a:t>
            </a:r>
          </a:p>
        </p:txBody>
      </p:sp>
      <p:sp>
        <p:nvSpPr>
          <p:cNvPr id="3" name="Content Placeholder 2">
            <a:extLst>
              <a:ext uri="{FF2B5EF4-FFF2-40B4-BE49-F238E27FC236}">
                <a16:creationId xmlns:a16="http://schemas.microsoft.com/office/drawing/2014/main" id="{7E6D8283-4F92-7E0F-2A26-054906A4CE3B}"/>
              </a:ext>
            </a:extLst>
          </p:cNvPr>
          <p:cNvSpPr>
            <a:spLocks noGrp="1"/>
          </p:cNvSpPr>
          <p:nvPr>
            <p:ph idx="1"/>
          </p:nvPr>
        </p:nvSpPr>
        <p:spPr>
          <a:xfrm>
            <a:off x="737118" y="2052918"/>
            <a:ext cx="10407846" cy="4195481"/>
          </a:xfrm>
        </p:spPr>
        <p:txBody>
          <a:bodyPr>
            <a:normAutofit fontScale="92500" lnSpcReduction="20000"/>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sz="2800" dirty="0">
                <a:solidFill>
                  <a:srgbClr val="FFFF00"/>
                </a:solidFill>
              </a:rPr>
              <a:t>After </a:t>
            </a:r>
            <a:r>
              <a:rPr lang="en-IN" sz="2800" dirty="0" err="1">
                <a:solidFill>
                  <a:srgbClr val="FFFF00"/>
                </a:solidFill>
              </a:rPr>
              <a:t>Runing</a:t>
            </a:r>
            <a:r>
              <a:rPr lang="en-IN" sz="2800" dirty="0">
                <a:solidFill>
                  <a:srgbClr val="FFFF00"/>
                </a:solidFill>
              </a:rPr>
              <a:t> this code we get best cross </a:t>
            </a:r>
            <a:r>
              <a:rPr lang="en-IN" sz="2800" dirty="0" err="1">
                <a:solidFill>
                  <a:srgbClr val="FFFF00"/>
                </a:solidFill>
              </a:rPr>
              <a:t>val</a:t>
            </a:r>
            <a:r>
              <a:rPr lang="en-IN" sz="2800" dirty="0">
                <a:solidFill>
                  <a:srgbClr val="FFFF00"/>
                </a:solidFill>
              </a:rPr>
              <a:t> score from </a:t>
            </a:r>
            <a:r>
              <a:rPr lang="en-IN" sz="2800" dirty="0" err="1">
                <a:solidFill>
                  <a:srgbClr val="FFFF00"/>
                </a:solidFill>
              </a:rPr>
              <a:t>GradientBoostingRegressor</a:t>
            </a:r>
            <a:r>
              <a:rPr lang="en-IN" sz="2800" dirty="0">
                <a:solidFill>
                  <a:srgbClr val="FFFF00"/>
                </a:solidFill>
              </a:rPr>
              <a:t> &amp; </a:t>
            </a:r>
            <a:r>
              <a:rPr lang="en-IN" sz="2800" dirty="0" err="1">
                <a:solidFill>
                  <a:srgbClr val="FFFF00"/>
                </a:solidFill>
              </a:rPr>
              <a:t>RandomforestRegressor</a:t>
            </a:r>
            <a:r>
              <a:rPr lang="en-IN" sz="2800" dirty="0">
                <a:solidFill>
                  <a:srgbClr val="FFFF00"/>
                </a:solidFill>
              </a:rPr>
              <a:t> for CV=8</a:t>
            </a:r>
          </a:p>
        </p:txBody>
      </p:sp>
      <p:pic>
        <p:nvPicPr>
          <p:cNvPr id="4" name="Picture 3">
            <a:extLst>
              <a:ext uri="{FF2B5EF4-FFF2-40B4-BE49-F238E27FC236}">
                <a16:creationId xmlns:a16="http://schemas.microsoft.com/office/drawing/2014/main" id="{3584E96D-F854-49AA-20FD-FA319DE143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7036" y="1661097"/>
            <a:ext cx="9059091" cy="3535805"/>
          </a:xfrm>
          <a:prstGeom prst="rect">
            <a:avLst/>
          </a:prstGeom>
        </p:spPr>
      </p:pic>
    </p:spTree>
    <p:extLst>
      <p:ext uri="{BB962C8B-B14F-4D97-AF65-F5344CB8AC3E}">
        <p14:creationId xmlns:p14="http://schemas.microsoft.com/office/powerpoint/2010/main" val="3601287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8A97A-D187-20D4-8881-C0C8D36DC0DF}"/>
              </a:ext>
            </a:extLst>
          </p:cNvPr>
          <p:cNvSpPr>
            <a:spLocks noGrp="1"/>
          </p:cNvSpPr>
          <p:nvPr>
            <p:ph type="title"/>
          </p:nvPr>
        </p:nvSpPr>
        <p:spPr/>
        <p:txBody>
          <a:bodyPr/>
          <a:lstStyle/>
          <a:p>
            <a:pPr algn="ctr"/>
            <a:r>
              <a:rPr lang="en-IN" sz="4400" dirty="0">
                <a:solidFill>
                  <a:srgbClr val="FFFF00"/>
                </a:solidFill>
                <a:highlight>
                  <a:srgbClr val="800080"/>
                </a:highlight>
                <a:latin typeface="Algerian" panose="04020705040A02060702" pitchFamily="82" charset="0"/>
              </a:rPr>
              <a:t>Parameter tuning</a:t>
            </a:r>
            <a:br>
              <a:rPr lang="en-IN" sz="4400" dirty="0">
                <a:latin typeface="Algerian" panose="04020705040A02060702" pitchFamily="82" charset="0"/>
              </a:rPr>
            </a:br>
            <a:endParaRPr lang="en-IN" dirty="0"/>
          </a:p>
        </p:txBody>
      </p:sp>
      <p:sp>
        <p:nvSpPr>
          <p:cNvPr id="3" name="Content Placeholder 2">
            <a:extLst>
              <a:ext uri="{FF2B5EF4-FFF2-40B4-BE49-F238E27FC236}">
                <a16:creationId xmlns:a16="http://schemas.microsoft.com/office/drawing/2014/main" id="{EC68EFD1-2588-3975-EA97-04D3DB0A21F6}"/>
              </a:ext>
            </a:extLst>
          </p:cNvPr>
          <p:cNvSpPr>
            <a:spLocks noGrp="1"/>
          </p:cNvSpPr>
          <p:nvPr>
            <p:ph idx="1"/>
          </p:nvPr>
        </p:nvSpPr>
        <p:spPr>
          <a:xfrm>
            <a:off x="1158635" y="2662519"/>
            <a:ext cx="9737878" cy="4195481"/>
          </a:xfrm>
        </p:spPr>
        <p:txBody>
          <a:bodyPr>
            <a:normAutofit fontScale="92500" lnSpcReduction="10000"/>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sz="1900" spc="-5" dirty="0">
                <a:solidFill>
                  <a:srgbClr val="FFFF00"/>
                </a:solidFill>
                <a:effectLst/>
                <a:latin typeface="Arial" panose="020B0604020202020204" pitchFamily="34" charset="0"/>
                <a:ea typeface="Calibri" panose="020F0502020204030204" pitchFamily="34" charset="0"/>
                <a:cs typeface="Times New Roman" panose="02020603050405020304" pitchFamily="18" charset="0"/>
              </a:rPr>
              <a:t>accuracy score has </a:t>
            </a:r>
            <a:r>
              <a:rPr lang="en-IN" sz="1900" spc="-5" dirty="0">
                <a:solidFill>
                  <a:srgbClr val="FFFF00"/>
                </a:solidFill>
                <a:latin typeface="Arial" panose="020B0604020202020204" pitchFamily="34" charset="0"/>
                <a:ea typeface="Calibri" panose="020F0502020204030204" pitchFamily="34" charset="0"/>
                <a:cs typeface="Times New Roman" panose="02020603050405020304" pitchFamily="18" charset="0"/>
              </a:rPr>
              <a:t>decreased</a:t>
            </a:r>
            <a:r>
              <a:rPr lang="en-IN" sz="1900" spc="-5" dirty="0">
                <a:solidFill>
                  <a:srgbClr val="FFFF00"/>
                </a:solidFill>
                <a:effectLst/>
                <a:latin typeface="Arial" panose="020B0604020202020204" pitchFamily="34" charset="0"/>
                <a:ea typeface="Calibri" panose="020F0502020204030204" pitchFamily="34" charset="0"/>
                <a:cs typeface="Times New Roman" panose="02020603050405020304" pitchFamily="18" charset="0"/>
              </a:rPr>
              <a:t> after parameter tuning </a:t>
            </a:r>
            <a:r>
              <a:rPr lang="en-IN" sz="1900" spc="-5" dirty="0" err="1">
                <a:solidFill>
                  <a:srgbClr val="FFFF00"/>
                </a:solidFill>
                <a:effectLst/>
                <a:latin typeface="Arial" panose="020B0604020202020204" pitchFamily="34" charset="0"/>
                <a:ea typeface="Calibri" panose="020F0502020204030204" pitchFamily="34" charset="0"/>
                <a:cs typeface="Times New Roman" panose="02020603050405020304" pitchFamily="18" charset="0"/>
              </a:rPr>
              <a:t>RandomforestRegressor</a:t>
            </a:r>
            <a:r>
              <a:rPr lang="en-IN" sz="1900" spc="-5" dirty="0">
                <a:solidFill>
                  <a:srgbClr val="FFFF00"/>
                </a:solidFill>
                <a:effectLst/>
                <a:latin typeface="Arial" panose="020B0604020202020204" pitchFamily="34" charset="0"/>
                <a:ea typeface="Calibri" panose="020F0502020204030204" pitchFamily="34" charset="0"/>
                <a:cs typeface="Times New Roman" panose="02020603050405020304" pitchFamily="18" charset="0"/>
              </a:rPr>
              <a:t> and increased for </a:t>
            </a:r>
            <a:r>
              <a:rPr lang="en-IN" sz="1900" spc="-5" dirty="0" err="1">
                <a:solidFill>
                  <a:srgbClr val="FFFF00"/>
                </a:solidFill>
                <a:effectLst/>
                <a:latin typeface="Arial" panose="020B0604020202020204" pitchFamily="34" charset="0"/>
                <a:ea typeface="Calibri" panose="020F0502020204030204" pitchFamily="34" charset="0"/>
                <a:cs typeface="Times New Roman" panose="02020603050405020304" pitchFamily="18" charset="0"/>
              </a:rPr>
              <a:t>GradientBoosting</a:t>
            </a:r>
            <a:r>
              <a:rPr lang="en-IN" sz="1900" spc="-5" dirty="0">
                <a:solidFill>
                  <a:srgbClr val="FFFF00"/>
                </a:solidFill>
                <a:effectLst/>
                <a:latin typeface="Arial" panose="020B0604020202020204" pitchFamily="34" charset="0"/>
                <a:ea typeface="Calibri" panose="020F0502020204030204" pitchFamily="34" charset="0"/>
                <a:cs typeface="Times New Roman" panose="02020603050405020304" pitchFamily="18" charset="0"/>
              </a:rPr>
              <a:t> </a:t>
            </a:r>
            <a:r>
              <a:rPr lang="en-IN" sz="1900" spc="-5" dirty="0" err="1">
                <a:solidFill>
                  <a:srgbClr val="FFFF00"/>
                </a:solidFill>
                <a:effectLst/>
                <a:latin typeface="Arial" panose="020B0604020202020204" pitchFamily="34" charset="0"/>
                <a:ea typeface="Calibri" panose="020F0502020204030204" pitchFamily="34" charset="0"/>
                <a:cs typeface="Times New Roman" panose="02020603050405020304" pitchFamily="18" charset="0"/>
              </a:rPr>
              <a:t>Regressor.Now</a:t>
            </a:r>
            <a:r>
              <a:rPr lang="en-IN" sz="1900" spc="-5" dirty="0">
                <a:solidFill>
                  <a:srgbClr val="FFFF00"/>
                </a:solidFill>
                <a:effectLst/>
                <a:latin typeface="Arial" panose="020B0604020202020204" pitchFamily="34" charset="0"/>
                <a:ea typeface="Calibri" panose="020F0502020204030204" pitchFamily="34" charset="0"/>
                <a:cs typeface="Times New Roman" panose="02020603050405020304" pitchFamily="18" charset="0"/>
              </a:rPr>
              <a:t> we will create final model with this </a:t>
            </a:r>
            <a:r>
              <a:rPr lang="en-IN" sz="1900" spc="-5" dirty="0" err="1">
                <a:solidFill>
                  <a:srgbClr val="FFFF00"/>
                </a:solidFill>
                <a:effectLst/>
                <a:latin typeface="Arial" panose="020B0604020202020204" pitchFamily="34" charset="0"/>
                <a:ea typeface="Calibri" panose="020F0502020204030204" pitchFamily="34" charset="0"/>
                <a:cs typeface="Times New Roman" panose="02020603050405020304" pitchFamily="18" charset="0"/>
              </a:rPr>
              <a:t>GradientBoosting</a:t>
            </a:r>
            <a:r>
              <a:rPr lang="en-IN" sz="1900" spc="-5" dirty="0">
                <a:solidFill>
                  <a:srgbClr val="FFFF00"/>
                </a:solidFill>
                <a:effectLst/>
                <a:latin typeface="Arial" panose="020B0604020202020204" pitchFamily="34" charset="0"/>
                <a:ea typeface="Calibri" panose="020F0502020204030204" pitchFamily="34" charset="0"/>
                <a:cs typeface="Times New Roman" panose="02020603050405020304" pitchFamily="18" charset="0"/>
              </a:rPr>
              <a:t> Regressor parameter</a:t>
            </a:r>
            <a:r>
              <a:rPr lang="en-IN" sz="1800" spc="-5" dirty="0">
                <a:solidFill>
                  <a:srgbClr val="7030A0"/>
                </a:solidFill>
                <a:effectLst/>
                <a:latin typeface="Arial" panose="020B0604020202020204" pitchFamily="34"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a:p>
            <a:endParaRPr lang="en-IN" dirty="0"/>
          </a:p>
        </p:txBody>
      </p:sp>
      <p:pic>
        <p:nvPicPr>
          <p:cNvPr id="6" name="Picture 5">
            <a:extLst>
              <a:ext uri="{FF2B5EF4-FFF2-40B4-BE49-F238E27FC236}">
                <a16:creationId xmlns:a16="http://schemas.microsoft.com/office/drawing/2014/main" id="{2CBDE96A-DA54-69BB-ADB9-FBD075DF99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9714" y="1160290"/>
            <a:ext cx="10842172" cy="4643351"/>
          </a:xfrm>
          <a:prstGeom prst="rect">
            <a:avLst/>
          </a:prstGeom>
        </p:spPr>
      </p:pic>
    </p:spTree>
    <p:extLst>
      <p:ext uri="{BB962C8B-B14F-4D97-AF65-F5344CB8AC3E}">
        <p14:creationId xmlns:p14="http://schemas.microsoft.com/office/powerpoint/2010/main" val="4122659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C826E-72C5-E2E9-B730-33CCF26D9A22}"/>
              </a:ext>
            </a:extLst>
          </p:cNvPr>
          <p:cNvSpPr>
            <a:spLocks noGrp="1"/>
          </p:cNvSpPr>
          <p:nvPr>
            <p:ph type="title"/>
          </p:nvPr>
        </p:nvSpPr>
        <p:spPr/>
        <p:txBody>
          <a:bodyPr/>
          <a:lstStyle/>
          <a:p>
            <a:pPr algn="ctr"/>
            <a:r>
              <a:rPr lang="en-IN" sz="4400" dirty="0">
                <a:solidFill>
                  <a:srgbClr val="FFFF00"/>
                </a:solidFill>
                <a:highlight>
                  <a:srgbClr val="800080"/>
                </a:highlight>
                <a:latin typeface="Algerian" panose="04020705040A02060702" pitchFamily="82" charset="0"/>
              </a:rPr>
              <a:t>Final model</a:t>
            </a:r>
            <a:br>
              <a:rPr lang="en-IN" sz="4400" dirty="0">
                <a:latin typeface="Algerian" panose="04020705040A02060702" pitchFamily="82" charset="0"/>
              </a:rPr>
            </a:br>
            <a:endParaRPr lang="en-IN" dirty="0"/>
          </a:p>
        </p:txBody>
      </p:sp>
      <p:sp>
        <p:nvSpPr>
          <p:cNvPr id="3" name="Content Placeholder 2">
            <a:extLst>
              <a:ext uri="{FF2B5EF4-FFF2-40B4-BE49-F238E27FC236}">
                <a16:creationId xmlns:a16="http://schemas.microsoft.com/office/drawing/2014/main" id="{B4DF55BF-0449-7C75-BC52-4217204DAC0E}"/>
              </a:ext>
            </a:extLst>
          </p:cNvPr>
          <p:cNvSpPr>
            <a:spLocks noGrp="1"/>
          </p:cNvSpPr>
          <p:nvPr>
            <p:ph idx="1"/>
          </p:nvPr>
        </p:nvSpPr>
        <p:spPr/>
        <p:txBody>
          <a:bodyPr>
            <a:normAutofit fontScale="92500" lnSpcReduction="10000"/>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sz="2800" spc="-5" dirty="0">
                <a:solidFill>
                  <a:srgbClr val="FFFF00"/>
                </a:solidFill>
                <a:effectLst/>
                <a:latin typeface="Georgia" panose="02040502050405020303" pitchFamily="18" charset="0"/>
                <a:ea typeface="Calibri" panose="020F0502020204030204" pitchFamily="34" charset="0"/>
                <a:cs typeface="Times New Roman" panose="02020603050405020304" pitchFamily="18" charset="0"/>
              </a:rPr>
              <a:t>since difference between train accuracy and test accuracy is very less ,our final model is not overfit or underfit</a:t>
            </a:r>
            <a:r>
              <a:rPr lang="en-IN" sz="1800" spc="-5" dirty="0">
                <a:solidFill>
                  <a:srgbClr val="7030A0"/>
                </a:solidFill>
                <a:effectLst/>
                <a:latin typeface="Georgia" panose="02040502050405020303"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CBDF7C74-CA27-5465-4BE1-A2F97921BC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8212" y="1334278"/>
            <a:ext cx="8313576" cy="3872204"/>
          </a:xfrm>
          <a:prstGeom prst="rect">
            <a:avLst/>
          </a:prstGeom>
        </p:spPr>
      </p:pic>
    </p:spTree>
    <p:extLst>
      <p:ext uri="{BB962C8B-B14F-4D97-AF65-F5344CB8AC3E}">
        <p14:creationId xmlns:p14="http://schemas.microsoft.com/office/powerpoint/2010/main" val="1487965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77AA1-7E52-46B0-DB24-74896930EB30}"/>
              </a:ext>
            </a:extLst>
          </p:cNvPr>
          <p:cNvSpPr>
            <a:spLocks noGrp="1"/>
          </p:cNvSpPr>
          <p:nvPr>
            <p:ph type="title"/>
          </p:nvPr>
        </p:nvSpPr>
        <p:spPr/>
        <p:txBody>
          <a:bodyPr/>
          <a:lstStyle/>
          <a:p>
            <a:pPr algn="ctr"/>
            <a:r>
              <a:rPr lang="en-IN" sz="4400" dirty="0">
                <a:solidFill>
                  <a:srgbClr val="FFFF00"/>
                </a:solidFill>
                <a:highlight>
                  <a:srgbClr val="800080"/>
                </a:highlight>
                <a:latin typeface="Algerian" panose="04020705040A02060702" pitchFamily="82" charset="0"/>
              </a:rPr>
              <a:t>Visualizations</a:t>
            </a:r>
            <a:br>
              <a:rPr lang="en-IN" sz="4400" dirty="0">
                <a:latin typeface="Algerian" panose="04020705040A02060702" pitchFamily="82" charset="0"/>
              </a:rPr>
            </a:br>
            <a:endParaRPr lang="en-IN" dirty="0"/>
          </a:p>
        </p:txBody>
      </p:sp>
      <p:sp>
        <p:nvSpPr>
          <p:cNvPr id="3" name="Content Placeholder 2">
            <a:extLst>
              <a:ext uri="{FF2B5EF4-FFF2-40B4-BE49-F238E27FC236}">
                <a16:creationId xmlns:a16="http://schemas.microsoft.com/office/drawing/2014/main" id="{CC23E6B0-936C-6019-7A7F-5ED355ADC419}"/>
              </a:ext>
            </a:extLst>
          </p:cNvPr>
          <p:cNvSpPr>
            <a:spLocks noGrp="1"/>
          </p:cNvSpPr>
          <p:nvPr>
            <p:ph idx="1"/>
          </p:nvPr>
        </p:nvSpPr>
        <p:spPr/>
        <p:txBody>
          <a:bodyPr>
            <a:normAutofit fontScale="77500" lnSpcReduction="20000"/>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algn="just"/>
            <a:endParaRPr lang="en-IN" sz="3000" spc="-5" dirty="0">
              <a:solidFill>
                <a:srgbClr val="FFFF00"/>
              </a:solidFill>
              <a:effectLst/>
              <a:latin typeface="Georgia" panose="02040502050405020303" pitchFamily="18" charset="0"/>
              <a:ea typeface="Calibri" panose="020F0502020204030204" pitchFamily="34" charset="0"/>
              <a:cs typeface="Times New Roman" panose="02020603050405020304" pitchFamily="18" charset="0"/>
            </a:endParaRPr>
          </a:p>
          <a:p>
            <a:pPr algn="just"/>
            <a:endParaRPr lang="en-IN" sz="3000" spc="-5" dirty="0">
              <a:solidFill>
                <a:srgbClr val="FFFF00"/>
              </a:solidFill>
              <a:effectLst/>
              <a:latin typeface="Georgia" panose="02040502050405020303" pitchFamily="18" charset="0"/>
              <a:ea typeface="Calibri" panose="020F0502020204030204" pitchFamily="34" charset="0"/>
              <a:cs typeface="Times New Roman" panose="02020603050405020304" pitchFamily="18" charset="0"/>
            </a:endParaRPr>
          </a:p>
          <a:p>
            <a:pPr marL="0" indent="0" algn="just">
              <a:buNone/>
            </a:pPr>
            <a:r>
              <a:rPr lang="en-IN" sz="3000" spc="-5" dirty="0">
                <a:solidFill>
                  <a:srgbClr val="FFFF00"/>
                </a:solidFill>
                <a:effectLst/>
                <a:latin typeface="Georgia" panose="02040502050405020303" pitchFamily="18" charset="0"/>
                <a:ea typeface="Calibri" panose="020F0502020204030204" pitchFamily="34" charset="0"/>
                <a:cs typeface="Times New Roman" panose="02020603050405020304" pitchFamily="18" charset="0"/>
              </a:rPr>
              <a:t>We can see that the original house price and final model’s predicted price are almost same which means model performance is good</a:t>
            </a:r>
            <a:endParaRPr lang="en-IN" sz="3000"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IN" sz="3000" dirty="0">
              <a:solidFill>
                <a:srgbClr val="FFFF00"/>
              </a:solidFill>
            </a:endParaRPr>
          </a:p>
          <a:p>
            <a:endParaRPr lang="en-IN" dirty="0"/>
          </a:p>
          <a:p>
            <a:endParaRPr lang="en-IN" dirty="0"/>
          </a:p>
          <a:p>
            <a:endParaRPr lang="en-IN" dirty="0"/>
          </a:p>
          <a:p>
            <a:endParaRPr lang="en-IN" dirty="0"/>
          </a:p>
          <a:p>
            <a:endParaRPr lang="en-IN" dirty="0"/>
          </a:p>
          <a:p>
            <a:endParaRPr lang="en-IN" dirty="0"/>
          </a:p>
        </p:txBody>
      </p:sp>
      <p:pic>
        <p:nvPicPr>
          <p:cNvPr id="6" name="Picture 5">
            <a:extLst>
              <a:ext uri="{FF2B5EF4-FFF2-40B4-BE49-F238E27FC236}">
                <a16:creationId xmlns:a16="http://schemas.microsoft.com/office/drawing/2014/main" id="{0E47C43B-5138-B410-BCB6-5ABAF8612C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5657" y="1152983"/>
            <a:ext cx="9134670" cy="4264090"/>
          </a:xfrm>
          <a:prstGeom prst="rect">
            <a:avLst/>
          </a:prstGeom>
        </p:spPr>
      </p:pic>
    </p:spTree>
    <p:extLst>
      <p:ext uri="{BB962C8B-B14F-4D97-AF65-F5344CB8AC3E}">
        <p14:creationId xmlns:p14="http://schemas.microsoft.com/office/powerpoint/2010/main" val="11490260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C137C-F456-AF72-27E6-CA83423E403D}"/>
              </a:ext>
            </a:extLst>
          </p:cNvPr>
          <p:cNvSpPr>
            <a:spLocks noGrp="1"/>
          </p:cNvSpPr>
          <p:nvPr>
            <p:ph type="title"/>
          </p:nvPr>
        </p:nvSpPr>
        <p:spPr/>
        <p:txBody>
          <a:bodyPr/>
          <a:lstStyle/>
          <a:p>
            <a:pPr algn="ctr"/>
            <a:r>
              <a:rPr lang="en-IN" sz="4400" dirty="0">
                <a:solidFill>
                  <a:srgbClr val="FFFF00"/>
                </a:solidFill>
                <a:highlight>
                  <a:srgbClr val="800080"/>
                </a:highlight>
                <a:latin typeface="Algerian" panose="04020705040A02060702" pitchFamily="82" charset="0"/>
              </a:rPr>
              <a:t>Interpretation of the Results</a:t>
            </a:r>
            <a:br>
              <a:rPr lang="en-IN" sz="4400" dirty="0">
                <a:latin typeface="Algerian" panose="04020705040A02060702" pitchFamily="82" charset="0"/>
              </a:rPr>
            </a:br>
            <a:endParaRPr lang="en-IN" dirty="0"/>
          </a:p>
        </p:txBody>
      </p:sp>
      <p:sp>
        <p:nvSpPr>
          <p:cNvPr id="3" name="Content Placeholder 2">
            <a:extLst>
              <a:ext uri="{FF2B5EF4-FFF2-40B4-BE49-F238E27FC236}">
                <a16:creationId xmlns:a16="http://schemas.microsoft.com/office/drawing/2014/main" id="{429D530E-AB02-9E12-37DA-50D29A66E5FB}"/>
              </a:ext>
            </a:extLst>
          </p:cNvPr>
          <p:cNvSpPr>
            <a:spLocks noGrp="1"/>
          </p:cNvSpPr>
          <p:nvPr>
            <p:ph idx="1"/>
          </p:nvPr>
        </p:nvSpPr>
        <p:spPr>
          <a:xfrm>
            <a:off x="646111" y="1698172"/>
            <a:ext cx="9692206" cy="4786604"/>
          </a:xfrm>
        </p:spPr>
        <p:txBody>
          <a:bodyPr/>
          <a:lstStyle/>
          <a:p>
            <a:pPr algn="just"/>
            <a:r>
              <a:rPr lang="en-US" dirty="0">
                <a:solidFill>
                  <a:srgbClr val="FFFF00"/>
                </a:solidFill>
              </a:rPr>
              <a:t>This particular problem needs a good vision on data, and in this problem Feature Engineering is the most crucial thing.</a:t>
            </a:r>
          </a:p>
          <a:p>
            <a:pPr algn="just"/>
            <a:r>
              <a:rPr lang="en-US" dirty="0">
                <a:solidFill>
                  <a:srgbClr val="FFFF00"/>
                </a:solidFill>
              </a:rPr>
              <a:t>You can see how we have handled numerical and categorical data and how we build different machine learning models on the same dataset.</a:t>
            </a:r>
          </a:p>
          <a:p>
            <a:pPr algn="just"/>
            <a:r>
              <a:rPr lang="en-US" dirty="0">
                <a:solidFill>
                  <a:srgbClr val="FFFF00"/>
                </a:solidFill>
              </a:rPr>
              <a:t>It is always advised to all of us that </a:t>
            </a:r>
            <a:r>
              <a:rPr lang="en-US" dirty="0" err="1">
                <a:solidFill>
                  <a:srgbClr val="FFFF00"/>
                </a:solidFill>
              </a:rPr>
              <a:t>atleast</a:t>
            </a:r>
            <a:r>
              <a:rPr lang="en-US" dirty="0">
                <a:solidFill>
                  <a:srgbClr val="FFFF00"/>
                </a:solidFill>
              </a:rPr>
              <a:t> we need to use 5 Algorithm in order to figure out which one is performing best among them and we choose that one and we send that for hyper parameter tuning to know that best parameter .</a:t>
            </a:r>
          </a:p>
          <a:p>
            <a:pPr algn="just"/>
            <a:r>
              <a:rPr lang="en-US" dirty="0">
                <a:solidFill>
                  <a:srgbClr val="FFFF00"/>
                </a:solidFill>
              </a:rPr>
              <a:t>Using hyper parameter tunning we can improve our model accuracy, for instance in this model the accuracy increased.</a:t>
            </a:r>
          </a:p>
          <a:p>
            <a:endParaRPr lang="en-IN" dirty="0"/>
          </a:p>
        </p:txBody>
      </p:sp>
    </p:spTree>
    <p:extLst>
      <p:ext uri="{BB962C8B-B14F-4D97-AF65-F5344CB8AC3E}">
        <p14:creationId xmlns:p14="http://schemas.microsoft.com/office/powerpoint/2010/main" val="8795219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3A98E-C480-35E9-55C2-68555D707B9B}"/>
              </a:ext>
            </a:extLst>
          </p:cNvPr>
          <p:cNvSpPr>
            <a:spLocks noGrp="1"/>
          </p:cNvSpPr>
          <p:nvPr>
            <p:ph type="title"/>
          </p:nvPr>
        </p:nvSpPr>
        <p:spPr/>
        <p:txBody>
          <a:bodyPr/>
          <a:lstStyle/>
          <a:p>
            <a:pPr algn="ctr"/>
            <a:r>
              <a:rPr lang="en-IN" sz="4800" dirty="0">
                <a:solidFill>
                  <a:srgbClr val="FFFF00"/>
                </a:solidFill>
                <a:effectLst/>
                <a:highlight>
                  <a:srgbClr val="800000"/>
                </a:highlight>
                <a:latin typeface="Algerian" panose="04020705040A02060702" pitchFamily="82" charset="0"/>
                <a:ea typeface="Calibri" panose="020F0502020204030204" pitchFamily="34" charset="0"/>
                <a:cs typeface="Times New Roman" panose="02020603050405020304" pitchFamily="18" charset="0"/>
              </a:rPr>
              <a:t>Future Work</a:t>
            </a:r>
            <a:endParaRPr lang="en-IN" sz="4800" dirty="0">
              <a:solidFill>
                <a:srgbClr val="FFFF00"/>
              </a:solidFill>
              <a:highlight>
                <a:srgbClr val="800000"/>
              </a:highlight>
              <a:latin typeface="Algerian" panose="04020705040A02060702" pitchFamily="82" charset="0"/>
            </a:endParaRPr>
          </a:p>
        </p:txBody>
      </p:sp>
      <p:sp>
        <p:nvSpPr>
          <p:cNvPr id="3" name="Content Placeholder 2">
            <a:extLst>
              <a:ext uri="{FF2B5EF4-FFF2-40B4-BE49-F238E27FC236}">
                <a16:creationId xmlns:a16="http://schemas.microsoft.com/office/drawing/2014/main" id="{85F23168-1588-E016-AE1B-F09049942474}"/>
              </a:ext>
            </a:extLst>
          </p:cNvPr>
          <p:cNvSpPr>
            <a:spLocks noGrp="1"/>
          </p:cNvSpPr>
          <p:nvPr>
            <p:ph idx="1"/>
          </p:nvPr>
        </p:nvSpPr>
        <p:spPr/>
        <p:txBody>
          <a:bodyPr>
            <a:normAutofit lnSpcReduction="10000"/>
          </a:bodyPr>
          <a:lstStyle/>
          <a:p>
            <a:r>
              <a:rPr lang="en-US" sz="2800" dirty="0">
                <a:solidFill>
                  <a:srgbClr val="FFFF00"/>
                </a:solidFill>
              </a:rPr>
              <a:t>For future improvements, following step we thought to took-</a:t>
            </a:r>
          </a:p>
          <a:p>
            <a:endParaRPr lang="en-US" sz="2800" dirty="0">
              <a:solidFill>
                <a:srgbClr val="FFFF00"/>
              </a:solidFill>
            </a:endParaRPr>
          </a:p>
          <a:p>
            <a:pPr lvl="1"/>
            <a:r>
              <a:rPr lang="en-US" sz="2800" dirty="0">
                <a:solidFill>
                  <a:srgbClr val="FFFF00"/>
                </a:solidFill>
              </a:rPr>
              <a:t>Replacing model with a latest/different model</a:t>
            </a:r>
          </a:p>
          <a:p>
            <a:endParaRPr lang="en-US" sz="2800" dirty="0">
              <a:solidFill>
                <a:srgbClr val="FFFF00"/>
              </a:solidFill>
            </a:endParaRPr>
          </a:p>
          <a:p>
            <a:pPr lvl="1"/>
            <a:r>
              <a:rPr lang="en-US" sz="2800" dirty="0">
                <a:solidFill>
                  <a:srgbClr val="FFFF00"/>
                </a:solidFill>
              </a:rPr>
              <a:t>Using other robust datasets  </a:t>
            </a:r>
          </a:p>
          <a:p>
            <a:endParaRPr lang="en-US" sz="2800" dirty="0">
              <a:solidFill>
                <a:srgbClr val="FFFF00"/>
              </a:solidFill>
            </a:endParaRPr>
          </a:p>
          <a:p>
            <a:pPr lvl="1"/>
            <a:r>
              <a:rPr lang="en-US" sz="2800" dirty="0">
                <a:solidFill>
                  <a:srgbClr val="FFFF00"/>
                </a:solidFill>
              </a:rPr>
              <a:t>Predicting result on </a:t>
            </a:r>
            <a:r>
              <a:rPr lang="en-US" sz="2800" dirty="0" err="1">
                <a:solidFill>
                  <a:srgbClr val="FFFF00"/>
                </a:solidFill>
              </a:rPr>
              <a:t>differents</a:t>
            </a:r>
            <a:r>
              <a:rPr lang="en-US" sz="2800" dirty="0">
                <a:solidFill>
                  <a:srgbClr val="FFFF00"/>
                </a:solidFill>
              </a:rPr>
              <a:t> attributes</a:t>
            </a:r>
          </a:p>
          <a:p>
            <a:endParaRPr lang="en-IN" dirty="0"/>
          </a:p>
        </p:txBody>
      </p:sp>
    </p:spTree>
    <p:extLst>
      <p:ext uri="{BB962C8B-B14F-4D97-AF65-F5344CB8AC3E}">
        <p14:creationId xmlns:p14="http://schemas.microsoft.com/office/powerpoint/2010/main" val="5257811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6DA82-9E58-9559-DB5C-10F3AE004A6B}"/>
              </a:ext>
            </a:extLst>
          </p:cNvPr>
          <p:cNvSpPr>
            <a:spLocks noGrp="1"/>
          </p:cNvSpPr>
          <p:nvPr>
            <p:ph type="title"/>
          </p:nvPr>
        </p:nvSpPr>
        <p:spPr/>
        <p:txBody>
          <a:bodyPr/>
          <a:lstStyle/>
          <a:p>
            <a:pPr algn="ctr"/>
            <a:r>
              <a:rPr lang="en-IN" sz="4400" dirty="0" err="1">
                <a:solidFill>
                  <a:srgbClr val="FFFF00"/>
                </a:solidFill>
                <a:highlight>
                  <a:srgbClr val="800080"/>
                </a:highlight>
                <a:latin typeface="Algerian" panose="04020705040A02060702" pitchFamily="82" charset="0"/>
              </a:rPr>
              <a:t>Conclussion</a:t>
            </a:r>
            <a:br>
              <a:rPr lang="en-IN" sz="4400" dirty="0">
                <a:latin typeface="Algerian" panose="04020705040A02060702" pitchFamily="82" charset="0"/>
              </a:rPr>
            </a:br>
            <a:endParaRPr lang="en-IN" dirty="0"/>
          </a:p>
        </p:txBody>
      </p:sp>
      <p:sp>
        <p:nvSpPr>
          <p:cNvPr id="3" name="Content Placeholder 2">
            <a:extLst>
              <a:ext uri="{FF2B5EF4-FFF2-40B4-BE49-F238E27FC236}">
                <a16:creationId xmlns:a16="http://schemas.microsoft.com/office/drawing/2014/main" id="{F05E71DD-597B-3AD6-9798-02D02E8E0893}"/>
              </a:ext>
            </a:extLst>
          </p:cNvPr>
          <p:cNvSpPr>
            <a:spLocks noGrp="1"/>
          </p:cNvSpPr>
          <p:nvPr>
            <p:ph idx="1"/>
          </p:nvPr>
        </p:nvSpPr>
        <p:spPr/>
        <p:txBody>
          <a:bodyPr/>
          <a:lstStyle/>
          <a:p>
            <a:r>
              <a:rPr lang="en-US" dirty="0">
                <a:solidFill>
                  <a:srgbClr val="FFFF00"/>
                </a:solidFill>
              </a:rPr>
              <a:t>When predicting car prices, many complications were involved. There are many variables / attributes to consider in determining the price of a car and if all or most of them are used, we need a lot of calculating power to get the price of the car. And it is very difficult to accurately predict car prices in real life.</a:t>
            </a:r>
          </a:p>
          <a:p>
            <a:endParaRPr lang="en-US" dirty="0">
              <a:solidFill>
                <a:srgbClr val="FFFF00"/>
              </a:solidFill>
            </a:endParaRPr>
          </a:p>
          <a:p>
            <a:r>
              <a:rPr lang="en-US" dirty="0">
                <a:solidFill>
                  <a:srgbClr val="FFFF00"/>
                </a:solidFill>
              </a:rPr>
              <a:t>For any of machine learning project my suggestion is first you have to understand the problem on ground level .if you don’t allow yourself to work with diligence .if you don’ t work harder anything that you are doing or will do , not only in case of machine learning but also in life cycle would be futile. Maybe, my </a:t>
            </a:r>
            <a:r>
              <a:rPr lang="en-US" dirty="0" err="1">
                <a:solidFill>
                  <a:srgbClr val="FFFF00"/>
                </a:solidFill>
              </a:rPr>
              <a:t>endeavour</a:t>
            </a:r>
            <a:r>
              <a:rPr lang="en-US" dirty="0">
                <a:solidFill>
                  <a:srgbClr val="FFFF00"/>
                </a:solidFill>
              </a:rPr>
              <a:t> assist you when ever you will get stuck</a:t>
            </a:r>
          </a:p>
          <a:p>
            <a:endParaRPr lang="en-IN" dirty="0"/>
          </a:p>
        </p:txBody>
      </p:sp>
    </p:spTree>
    <p:extLst>
      <p:ext uri="{BB962C8B-B14F-4D97-AF65-F5344CB8AC3E}">
        <p14:creationId xmlns:p14="http://schemas.microsoft.com/office/powerpoint/2010/main" val="36557214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2EE4A-7AFD-584E-45F3-31B34E8CC2E7}"/>
              </a:ext>
            </a:extLst>
          </p:cNvPr>
          <p:cNvSpPr>
            <a:spLocks noGrp="1"/>
          </p:cNvSpPr>
          <p:nvPr>
            <p:ph type="title"/>
          </p:nvPr>
        </p:nvSpPr>
        <p:spPr>
          <a:xfrm>
            <a:off x="1313578" y="1947333"/>
            <a:ext cx="8825657" cy="1915647"/>
          </a:xfrm>
        </p:spPr>
        <p:txBody>
          <a:bodyPr/>
          <a:lstStyle/>
          <a:p>
            <a:pPr algn="ctr"/>
            <a:r>
              <a:rPr lang="en-IN" sz="9600" dirty="0"/>
              <a:t>	</a:t>
            </a:r>
            <a:r>
              <a:rPr lang="en-IN" sz="9600" dirty="0">
                <a:solidFill>
                  <a:srgbClr val="FFFF00"/>
                </a:solidFill>
                <a:highlight>
                  <a:srgbClr val="800080"/>
                </a:highlight>
                <a:latin typeface="Algerian" panose="04020705040A02060702" pitchFamily="82" charset="0"/>
              </a:rPr>
              <a:t>THANK YOU</a:t>
            </a:r>
          </a:p>
        </p:txBody>
      </p:sp>
      <p:sp>
        <p:nvSpPr>
          <p:cNvPr id="3" name="Text Placeholder 2">
            <a:extLst>
              <a:ext uri="{FF2B5EF4-FFF2-40B4-BE49-F238E27FC236}">
                <a16:creationId xmlns:a16="http://schemas.microsoft.com/office/drawing/2014/main" id="{1DCF2583-4033-EE7B-5499-C7E462117A69}"/>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7522731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1708</TotalTime>
  <Words>1388</Words>
  <Application>Microsoft Office PowerPoint</Application>
  <PresentationFormat>Widescreen</PresentationFormat>
  <Paragraphs>158</Paragraphs>
  <Slides>20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vt:i4>
      </vt:variant>
    </vt:vector>
  </HeadingPairs>
  <TitlesOfParts>
    <vt:vector size="31" baseType="lpstr">
      <vt:lpstr>Algerian</vt:lpstr>
      <vt:lpstr>Arial</vt:lpstr>
      <vt:lpstr>Arial Black</vt:lpstr>
      <vt:lpstr>Calibri</vt:lpstr>
      <vt:lpstr>Century Gothic</vt:lpstr>
      <vt:lpstr>Georgia</vt:lpstr>
      <vt:lpstr>Roboto</vt:lpstr>
      <vt:lpstr>Segoe UI</vt:lpstr>
      <vt:lpstr>Wingdings</vt:lpstr>
      <vt:lpstr>Wingdings 3</vt:lpstr>
      <vt:lpstr>Ion</vt:lpstr>
      <vt:lpstr>PowerPoint Presentation</vt:lpstr>
      <vt:lpstr>TABLE OF CONTENTS</vt:lpstr>
      <vt:lpstr>Abstruct</vt:lpstr>
      <vt:lpstr>Introduction</vt:lpstr>
      <vt:lpstr>Problem Statement</vt:lpstr>
      <vt:lpstr>Conceptual Background of the Domain Problem </vt:lpstr>
      <vt:lpstr>Data Sources and their formats </vt:lpstr>
      <vt:lpstr>About The DataSet </vt:lpstr>
      <vt:lpstr>Data Preprocessing </vt:lpstr>
      <vt:lpstr>Hardware and Software Requirements and Tools Used </vt:lpstr>
      <vt:lpstr>selected models </vt:lpstr>
      <vt:lpstr>Accuracy score of the model </vt:lpstr>
      <vt:lpstr>Cross Val Score</vt:lpstr>
      <vt:lpstr>Parameter tuning </vt:lpstr>
      <vt:lpstr>Final model </vt:lpstr>
      <vt:lpstr>Visualizations </vt:lpstr>
      <vt:lpstr>Interpretation of the Results </vt:lpstr>
      <vt:lpstr>Future Work</vt:lpstr>
      <vt:lpstr>Conclussion </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KOUSHIK BISWAS</dc:creator>
  <cp:lastModifiedBy>KOUSHIK BISWAS</cp:lastModifiedBy>
  <cp:revision>22</cp:revision>
  <dcterms:created xsi:type="dcterms:W3CDTF">2022-06-27T13:52:02Z</dcterms:created>
  <dcterms:modified xsi:type="dcterms:W3CDTF">2022-07-15T04:43:29Z</dcterms:modified>
</cp:coreProperties>
</file>